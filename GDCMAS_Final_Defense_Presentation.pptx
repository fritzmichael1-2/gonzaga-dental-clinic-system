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4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463040"/>
            <a:ext cx="8595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1E3A8A"/>
                </a:solidFill>
              </a:defRPr>
            </a:pPr>
            <a:r>
              <a:t>GONZAGA DENTAL CLINIC MANAGEMENT AUTOMATION SYSTEM (GDCMAS)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47472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A Business Process Automation Plan for Streamlining Patient Records,</a:t>
            </a:r>
          </a:p>
          <a:p>
            <a:r>
              <a:t>Appointment Scheduling, and Dental Clinic Operations at Gonzaga Dental Clinic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0"/>
            <a:ext cx="8595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Amor, Khent Vincent C. | Galve, Fritz Michael G. | Gayem, Vince</a:t>
            </a:r>
          </a:p>
          <a:p>
            <a:r>
              <a:t>Jeruta, John Paul | Perez, Godwin | Simba, Via Marie</a:t>
            </a:r>
          </a:p>
          <a:p>
            <a:r>
              <a:t>Suasin, Ela | Tamba, Mon Wilbert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A7A5C"/>
                </a:solidFill>
              </a:defRPr>
            </a:pPr>
            <a:r>
              <a:t>PHINMA University of Iloilo | College of Information Technology Education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Business Problem</a:t>
            </a:r>
          </a:p>
          <a:p>
            <a:pPr lvl="1">
              <a:defRPr sz="2400"/>
            </a:pPr>
            <a:r>
              <a:t>2. Current Process (As-Is)</a:t>
            </a:r>
          </a:p>
          <a:p>
            <a:pPr lvl="1">
              <a:defRPr sz="2400"/>
            </a:pPr>
            <a:r>
              <a:t>3. Problems Identified</a:t>
            </a:r>
          </a:p>
          <a:p>
            <a:pPr lvl="1">
              <a:defRPr sz="2400"/>
            </a:pPr>
            <a:r>
              <a:t>4. Proposed Solution (GDCMAS)</a:t>
            </a:r>
          </a:p>
          <a:p>
            <a:pPr lvl="1">
              <a:defRPr sz="2400"/>
            </a:pPr>
            <a:r>
              <a:t>5. Future-State Process (To-Be)</a:t>
            </a:r>
          </a:p>
          <a:p>
            <a:pPr lvl="1">
              <a:defRPr sz="2400"/>
            </a:pPr>
            <a:r>
              <a:t>6. System Features &amp; Benefits</a:t>
            </a:r>
          </a:p>
          <a:p>
            <a:pPr lvl="1">
              <a:defRPr sz="2400"/>
            </a:pPr>
            <a:r>
              <a:t>7. Technology Stack &amp; Security</a:t>
            </a:r>
          </a:p>
          <a:p>
            <a:pPr lvl="1">
              <a:defRPr sz="2400"/>
            </a:pPr>
            <a:r>
              <a:t>8. System Modules</a:t>
            </a:r>
          </a:p>
          <a:p>
            <a:pPr lvl="1">
              <a:defRPr sz="2400"/>
            </a:pPr>
            <a:r>
              <a:t>9. Conclusion</a:t>
            </a:r>
          </a:p>
          <a:p>
            <a:pPr lvl="1">
              <a:defRPr sz="2400"/>
            </a:pPr>
            <a:r>
              <a:t>10. 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Gonzaga Dental Clinic currently uses a paper-based system:</a:t>
            </a:r>
          </a:p>
          <a:p>
            <a:pPr lvl="1">
              <a:defRPr sz="1900"/>
            </a:pPr>
            <a:r>
              <a:t>• Patient records stored in physical envelopes, binders, and cabinets</a:t>
            </a:r>
          </a:p>
          <a:p>
            <a:pPr lvl="1">
              <a:defRPr sz="1900"/>
            </a:pPr>
            <a:r>
              <a:t>• Appointment information maintained in a logbook</a:t>
            </a:r>
          </a:p>
          <a:p>
            <a:pPr lvl="1">
              <a:defRPr sz="1900"/>
            </a:pPr>
            <a:r>
              <a:t>• Treatment updates recorded on index cards</a:t>
            </a:r>
          </a:p>
          <a:p>
            <a:pPr lvl="1">
              <a:defRPr sz="1900"/>
            </a:pPr>
            <a:r>
              <a:t>• Records are NOT accessible between branches (Main &amp; Second Branch)</a:t>
            </a:r>
          </a:p>
          <a:p>
            <a:pPr lvl="1">
              <a:defRPr sz="1900"/>
            </a:pPr>
            <a:r>
              <a:t>• No backup system for physical records</a:t>
            </a:r>
          </a:p>
          <a:p>
            <a:pPr lvl="1">
              <a:defRPr sz="1900"/>
            </a:pPr>
            <a:r>
              <a:t>• Risk of duplicate patient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CURRENT PROCESS (AS-IS)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Patient Registration – Fill out paper intake forms and consent documents</a:t>
            </a:r>
          </a:p>
          <a:p>
            <a:pPr lvl="1">
              <a:defRPr sz="1900"/>
            </a:pPr>
            <a:r>
              <a:t>2. Record Storage – Documents placed in labeled envelopes in cabinets</a:t>
            </a:r>
          </a:p>
          <a:p>
            <a:pPr lvl="1">
              <a:defRPr sz="1900"/>
            </a:pPr>
            <a:r>
              <a:t>3. Consultation – Dentist reviews patient history from physical files</a:t>
            </a:r>
          </a:p>
          <a:p>
            <a:pPr lvl="1">
              <a:defRPr sz="1900"/>
            </a:pPr>
            <a:r>
              <a:t>4. Treatment Recording – Updates written manually on index cards</a:t>
            </a:r>
          </a:p>
          <a:p>
            <a:pPr lvl="1">
              <a:defRPr sz="1900"/>
            </a:pPr>
            <a:r>
              <a:t>5. Appointment Booking – Recorded manually in a logbook</a:t>
            </a:r>
          </a:p>
          <a:p>
            <a:pPr lvl="1">
              <a:defRPr sz="1900"/>
            </a:pPr>
            <a:r>
              <a:t>6. Inter-Branch Coordination – Done through texts or sharing photos of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PROBLEMS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Fragmented Records – Scattered across physical storage</a:t>
            </a:r>
          </a:p>
          <a:p>
            <a:pPr lvl="1">
              <a:defRPr sz="1900"/>
            </a:pPr>
            <a:r>
              <a:t>• Limited Accessibility – No instant access between branches</a:t>
            </a:r>
          </a:p>
          <a:p>
            <a:pPr lvl="1">
              <a:defRPr sz="1900"/>
            </a:pPr>
            <a:r>
              <a:t>• Manual Tracking – Time-consuming search for patient records</a:t>
            </a:r>
          </a:p>
          <a:p>
            <a:pPr lvl="1">
              <a:defRPr sz="1900"/>
            </a:pPr>
            <a:r>
              <a:t>• Scheduling Conflicts – Risk of double-booking</a:t>
            </a:r>
          </a:p>
          <a:p>
            <a:pPr lvl="1">
              <a:defRPr sz="1900"/>
            </a:pPr>
            <a:r>
              <a:t>• No Data Backup – Vulnerable to loss or damage</a:t>
            </a:r>
          </a:p>
          <a:p>
            <a:pPr lvl="1">
              <a:defRPr sz="1900"/>
            </a:pPr>
            <a:r>
              <a:t>• Duplicate Records – Fragmentation of patient history</a:t>
            </a:r>
          </a:p>
          <a:p>
            <a:pPr lvl="1">
              <a:defRPr sz="1900"/>
            </a:pPr>
            <a:r>
              <a:t>• Lack of Accountability – No audit trail</a:t>
            </a:r>
          </a:p>
          <a:p>
            <a:pPr lvl="1">
              <a:defRPr sz="1900"/>
            </a:pPr>
            <a:r>
              <a:t>• Inefficient Coordination – Delays between branches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3A8A"/>
                </a:solidFill>
              </a:defRPr>
            </a:pPr>
            <a:r>
              <a:t>GDCMAS - Gonzaga Dental Clinic Management Automation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8046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centralized, web-based system that automates and digitizes all clinic operations to replace the paper-based workflow with a secure, efficient digital solution.</a:t>
            </a:r>
          </a:p>
          <a:p>
            <a:pPr>
              <a:defRPr sz="1800"/>
            </a:pPr>
          </a:p>
          <a:p>
            <a:pPr>
              <a:defRPr sz="1800" b="1"/>
            </a:pPr>
            <a:r>
              <a:t>Goal: Provide a unified platform for patient records, treatment history, appointments, and clinic management accessible across both branches.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Patient Management - Registration, search, duplicate detection</a:t>
            </a:r>
          </a:p>
          <a:p>
            <a:pPr lvl="1">
              <a:defRPr sz="1900"/>
            </a:pPr>
            <a:r>
              <a:t>• Treatment Records - FDI Tooth Chart &amp; procedure tracking</a:t>
            </a:r>
          </a:p>
          <a:p>
            <a:pPr lvl="1">
              <a:defRPr sz="1900"/>
            </a:pPr>
            <a:r>
              <a:t>• Appointment Scheduling - Per-branch calendar with slot generation</a:t>
            </a:r>
          </a:p>
          <a:p>
            <a:pPr lvl="1">
              <a:defRPr sz="1900"/>
            </a:pPr>
            <a:r>
              <a:t>• Consent Management - Digital versioned consent forms</a:t>
            </a:r>
          </a:p>
          <a:p>
            <a:pPr lvl="1">
              <a:defRPr sz="1900"/>
            </a:pPr>
            <a:r>
              <a:t>• Public Booking Portal - Online appointment requests</a:t>
            </a:r>
          </a:p>
          <a:p>
            <a:pPr lvl="1">
              <a:defRPr sz="1900"/>
            </a:pPr>
            <a:r>
              <a:t>• Staff Management - Role-based user administration</a:t>
            </a:r>
          </a:p>
          <a:p>
            <a:pPr lvl="1">
              <a:defRPr sz="1900"/>
            </a:pPr>
            <a:r>
              <a:t>• Branch Overview - Real-time clinic statistics</a:t>
            </a:r>
          </a:p>
          <a:p>
            <a:pPr lvl="1">
              <a:defRPr sz="1900"/>
            </a:pPr>
            <a:r>
              <a:t>• Audit &amp; Governance - Complete activity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FUTURE-STATE PROCESS (TO-BE)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Patient Registration/Retrieval → Centralized digital search &amp; registration</a:t>
            </a:r>
          </a:p>
          <a:p>
            <a:pPr lvl="1">
              <a:defRPr sz="1800"/>
            </a:pPr>
            <a:r>
              <a:t>2. Appointment Booking → System-based with real-time availability</a:t>
            </a:r>
          </a:p>
          <a:p>
            <a:pPr lvl="1">
              <a:defRPr sz="1800"/>
            </a:pPr>
            <a:r>
              <a:t>3. Consultation &amp; Treatment → Digital records with FDI tooth chart</a:t>
            </a:r>
          </a:p>
          <a:p>
            <a:pPr lvl="1">
              <a:defRPr sz="1800"/>
            </a:pPr>
            <a:r>
              <a:t>4. Consent Documentation → Digital versioned consent with audit trail</a:t>
            </a:r>
          </a:p>
          <a:p>
            <a:pPr lvl="1">
              <a:defRPr sz="1800"/>
            </a:pPr>
            <a:r>
              <a:t>5. Inter-Branch Access → Seamless access across both branches</a:t>
            </a:r>
          </a:p>
          <a:p>
            <a:pPr lvl="1">
              <a:defRPr sz="1800"/>
            </a:pPr>
            <a:r>
              <a:t>6. Monitoring &amp; Reporting → Real-time dashboards and audit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STACK, SECURITY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TECH STACK:</a:t>
            </a:r>
          </a:p>
          <a:p>
            <a:pPr lvl="2">
              <a:defRPr sz="1400"/>
            </a:pPr>
            <a:r>
              <a:t>• Next.js 16 | React 19</a:t>
            </a:r>
          </a:p>
          <a:p>
            <a:pPr lvl="2">
              <a:defRPr sz="1400"/>
            </a:pPr>
            <a:r>
              <a:t>• TypeScript | Tailwind CSS 4</a:t>
            </a:r>
          </a:p>
          <a:p>
            <a:pPr lvl="2">
              <a:defRPr sz="1400"/>
            </a:pPr>
            <a:r>
              <a:t>• Supabase (Postgres, Auth, RLS)</a:t>
            </a:r>
          </a:p>
          <a:p>
            <a:pPr lvl="2">
              <a:defRPr sz="1400"/>
            </a:pPr>
            <a:r>
              <a:t>• Zod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0584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SECURITY (3-LAYERS):</a:t>
            </a:r>
          </a:p>
          <a:p>
            <a:pPr lvl="1">
              <a:defRPr sz="1400"/>
            </a:pPr>
            <a:r>
              <a:t>1. Proxy Layer</a:t>
            </a:r>
          </a:p>
          <a:p>
            <a:pPr lvl="1">
              <a:defRPr sz="1400"/>
            </a:pPr>
            <a:r>
              <a:t>2. Server Validation</a:t>
            </a:r>
          </a:p>
          <a:p>
            <a:pPr lvl="1">
              <a:defRPr sz="1400"/>
            </a:pPr>
            <a:r>
              <a:t>3. PostgreSQL RLS</a:t>
            </a:r>
          </a:p>
          <a:p>
            <a:pPr lvl="1">
              <a:defRPr sz="1400" b="1"/>
            </a:pPr>
            <a:r>
              <a:t>Roles: Dentist | Secretary |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BENEFITS:</a:t>
            </a:r>
          </a:p>
          <a:p>
            <a:pPr algn="ctr">
              <a:defRPr sz="1800" b="1">
                <a:solidFill>
                  <a:srgbClr val="4A7A5C"/>
                </a:solidFill>
              </a:defRPr>
            </a:pPr>
            <a:r>
              <a:t>Centralization • Accessibility • Efficiency • Accountability • Security • Accuracy • Convenience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The problem is the lack of a standardized, centralized process - NOT just software</a:t>
            </a:r>
          </a:p>
          <a:p>
            <a:pPr lvl="1">
              <a:defRPr sz="1700"/>
            </a:pPr>
            <a:r>
              <a:t>• GDCMAS standardizes the workflow first, then automates it through technology</a:t>
            </a:r>
          </a:p>
          <a:p>
            <a:pPr lvl="1">
              <a:defRPr sz="1700"/>
            </a:pPr>
            <a:r>
              <a:t>• Successfully addresses all identified issues in clinic operations</a:t>
            </a:r>
          </a:p>
          <a:p>
            <a:pPr lvl="1">
              <a:defRPr sz="1700"/>
            </a:pPr>
            <a:r>
              <a:t>• Improves efficiency, accessibility, security, accountability &amp; patient care</a:t>
            </a:r>
          </a:p>
          <a:p>
            <a:pPr lvl="1">
              <a:defRPr sz="1700"/>
            </a:pPr>
            <a:r>
              <a:t>• Provides a solid foundation for the clinic's digital transformation</a:t>
            </a:r>
          </a:p>
          <a:p>
            <a:pPr lvl="1">
              <a:defRPr sz="1700"/>
            </a:pPr>
            <a:r>
              <a:t>• Ready for implementation with proper validation and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THANK YOU!</a:t>
            </a:r>
          </a:p>
          <a:p>
            <a:r>
              <a:t>Questions and Answers</a:t>
            </a:r>
          </a:p>
          <a:p>
            <a:pPr algn="ctr">
              <a:defRPr sz="1600">
                <a:solidFill>
                  <a:srgbClr val="4A7A5C"/>
                </a:solidFill>
              </a:defRPr>
            </a:pPr>
            <a:r>
              <a:t>GDCMAS | PHINMA University of Iloilo - CITE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
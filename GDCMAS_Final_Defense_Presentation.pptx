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46304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00"/>
            <a:ext cx="9144000" cy="10972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886200" y="1097280"/>
            <a:ext cx="1371600" cy="13716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2651760"/>
            <a:ext cx="85953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1B5E20"/>
                </a:solidFill>
              </a:defRPr>
            </a:pPr>
            <a:r>
              <a:t>GONZAGA DENTAL CLINIC MANAGEMENT</a:t>
            </a:r>
          </a:p>
          <a:p>
            <a:pPr algn="ctr">
              <a:defRPr sz="3000" b="1">
                <a:solidFill>
                  <a:srgbClr val="1B5E20"/>
                </a:solidFill>
              </a:defRPr>
            </a:pPr>
            <a:r>
              <a:t>AUTOMATION SYSTEM (GDCMAS)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5720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424242"/>
                </a:solidFill>
              </a:defRPr>
            </a:pPr>
            <a:r>
              <a:t>A Business Process Automation Plan for Streamlining Patient Records,</a:t>
            </a:r>
          </a:p>
          <a:p>
            <a:pPr algn="ctr">
              <a:defRPr sz="1400">
                <a:solidFill>
                  <a:srgbClr val="424242"/>
                </a:solidFill>
              </a:defRPr>
            </a:pPr>
            <a:r>
              <a:t>Appointment Scheduling, and Dental Clinic Operations at Gonzaga Dental Clinic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66928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212121"/>
                </a:solidFill>
              </a:defRPr>
            </a:pPr>
            <a:r>
              <a:t>Amor • Galve • Gayem • Jeruta • Perez • Simba • Suasin • Tamba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OUTLINE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1280160"/>
            <a:ext cx="67665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2300">
                <a:solidFill>
                  <a:srgbClr val="212121"/>
                </a:solidFill>
              </a:defRPr>
            </a:pPr>
            <a:r>
              <a:t>1. Rationale of the Study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2300">
                <a:solidFill>
                  <a:srgbClr val="212121"/>
                </a:solidFill>
              </a:defRPr>
            </a:pPr>
            <a:r>
              <a:t>2. Business Problem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2300">
                <a:solidFill>
                  <a:srgbClr val="212121"/>
                </a:solidFill>
              </a:defRPr>
            </a:pPr>
            <a:r>
              <a:t>3. Current vs Proposed Process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2300">
                <a:solidFill>
                  <a:srgbClr val="212121"/>
                </a:solidFill>
              </a:defRPr>
            </a:pPr>
            <a:r>
              <a:t>4. Problems Identified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2300">
                <a:solidFill>
                  <a:srgbClr val="212121"/>
                </a:solidFill>
              </a:defRPr>
            </a:pPr>
            <a:r>
              <a:t>5. Proposed Solution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2300">
                <a:solidFill>
                  <a:srgbClr val="212121"/>
                </a:solidFill>
              </a:defRPr>
            </a:pPr>
            <a:r>
              <a:t>6. System Features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2300">
                <a:solidFill>
                  <a:srgbClr val="212121"/>
                </a:solidFill>
              </a:defRPr>
            </a:pPr>
            <a:r>
              <a:t>7. Technology Stack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2300">
                <a:solidFill>
                  <a:srgbClr val="212121"/>
                </a:solidFill>
              </a:defRPr>
            </a:pPr>
            <a:r>
              <a:t>8. Security Features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2300">
                <a:solidFill>
                  <a:srgbClr val="212121"/>
                </a:solidFill>
              </a:defRPr>
            </a:pPr>
            <a:r>
              <a:t>9. Benefits and Conclusion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2300">
                <a:solidFill>
                  <a:srgbClr val="212121"/>
                </a:solidFill>
              </a:defRPr>
            </a:pPr>
            <a:r>
              <a:t>10. References &amp; Q &amp; 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BUSINESS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900">
                <a:solidFill>
                  <a:srgbClr val="212121"/>
                </a:solidFill>
              </a:defRPr>
            </a:pPr>
            <a:r>
              <a:t>Gonzaga Dental Clinic relies on a traditional paper-based system to manage its daily operations, leading to inefficiencies across both branches.</a:t>
            </a:r>
          </a:p>
          <a:p>
            <a:pPr>
              <a:spcBef>
                <a:spcPts val="800"/>
              </a:spcBef>
              <a:defRPr sz="1900">
                <a:solidFill>
                  <a:srgbClr val="212121"/>
                </a:solidFill>
              </a:defRPr>
            </a:pPr>
            <a:r>
              <a:t>• Manual record-keeping using envelopes, binders, and cabinets</a:t>
            </a:r>
          </a:p>
          <a:p>
            <a:pPr>
              <a:spcBef>
                <a:spcPts val="800"/>
              </a:spcBef>
              <a:defRPr sz="1900">
                <a:solidFill>
                  <a:srgbClr val="212121"/>
                </a:solidFill>
              </a:defRPr>
            </a:pPr>
            <a:r>
              <a:t>• Appointments tracked through a physical logbook</a:t>
            </a:r>
          </a:p>
          <a:p>
            <a:pPr>
              <a:spcBef>
                <a:spcPts val="800"/>
              </a:spcBef>
              <a:defRPr sz="1900">
                <a:solidFill>
                  <a:srgbClr val="212121"/>
                </a:solidFill>
              </a:defRPr>
            </a:pPr>
            <a:r>
              <a:t>• Treatment history recorded on index cards</a:t>
            </a:r>
          </a:p>
          <a:p>
            <a:pPr>
              <a:spcBef>
                <a:spcPts val="800"/>
              </a:spcBef>
              <a:defRPr sz="1900">
                <a:solidFill>
                  <a:srgbClr val="212121"/>
                </a:solidFill>
              </a:defRPr>
            </a:pPr>
            <a:r>
              <a:t>• Limited to no inter-branch access to patient records</a:t>
            </a:r>
          </a:p>
          <a:p>
            <a:pPr>
              <a:spcBef>
                <a:spcPts val="800"/>
              </a:spcBef>
              <a:defRPr sz="1900">
                <a:solidFill>
                  <a:srgbClr val="212121"/>
                </a:solidFill>
              </a:defRPr>
            </a:pPr>
            <a:r>
              <a:t>• Absence of digital backup and audit mechanisms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PROBLEMS IDENTIFIED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76809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1000"/>
              </a:spcBef>
              <a:spcAft>
                <a:spcPts val="1000"/>
              </a:spcAft>
              <a:defRPr sz="2000">
                <a:solidFill>
                  <a:srgbClr val="212121"/>
                </a:solidFill>
              </a:defRPr>
            </a:pPr>
            <a:r>
              <a:t>• Fragmented &amp; Disorganized Records</a:t>
            </a:r>
          </a:p>
          <a:p>
            <a:pPr>
              <a:spcBef>
                <a:spcPts val="1000"/>
              </a:spcBef>
              <a:spcAft>
                <a:spcPts val="1000"/>
              </a:spcAft>
              <a:defRPr sz="2000">
                <a:solidFill>
                  <a:srgbClr val="212121"/>
                </a:solidFill>
              </a:defRPr>
            </a:pPr>
            <a:r>
              <a:t>• Limited Accessibility Between Branches</a:t>
            </a:r>
          </a:p>
          <a:p>
            <a:pPr>
              <a:spcBef>
                <a:spcPts val="1000"/>
              </a:spcBef>
              <a:spcAft>
                <a:spcPts val="1000"/>
              </a:spcAft>
              <a:defRPr sz="2000">
                <a:solidFill>
                  <a:srgbClr val="212121"/>
                </a:solidFill>
              </a:defRPr>
            </a:pPr>
            <a:r>
              <a:t>• Time-Consuming Manual Tracking</a:t>
            </a:r>
          </a:p>
          <a:p>
            <a:pPr>
              <a:spcBef>
                <a:spcPts val="1000"/>
              </a:spcBef>
              <a:spcAft>
                <a:spcPts val="1000"/>
              </a:spcAft>
              <a:defRPr sz="2000">
                <a:solidFill>
                  <a:srgbClr val="212121"/>
                </a:solidFill>
              </a:defRPr>
            </a:pPr>
            <a:r>
              <a:t>• High Risk of Scheduling Conflicts</a:t>
            </a:r>
          </a:p>
          <a:p>
            <a:pPr>
              <a:spcBef>
                <a:spcPts val="1000"/>
              </a:spcBef>
              <a:spcAft>
                <a:spcPts val="1000"/>
              </a:spcAft>
              <a:defRPr sz="2000">
                <a:solidFill>
                  <a:srgbClr val="212121"/>
                </a:solidFill>
              </a:defRPr>
            </a:pPr>
            <a:r>
              <a:t>• Duplicate Patient Records</a:t>
            </a:r>
          </a:p>
          <a:p>
            <a:pPr>
              <a:spcBef>
                <a:spcPts val="1000"/>
              </a:spcBef>
              <a:spcAft>
                <a:spcPts val="1000"/>
              </a:spcAft>
              <a:defRPr sz="2000">
                <a:solidFill>
                  <a:srgbClr val="212121"/>
                </a:solidFill>
              </a:defRPr>
            </a:pPr>
            <a:r>
              <a:t>• No Data Backup or Recovery</a:t>
            </a:r>
          </a:p>
          <a:p>
            <a:pPr>
              <a:spcBef>
                <a:spcPts val="1000"/>
              </a:spcBef>
              <a:spcAft>
                <a:spcPts val="1000"/>
              </a:spcAft>
              <a:defRPr sz="2000">
                <a:solidFill>
                  <a:srgbClr val="212121"/>
                </a:solidFill>
              </a:defRPr>
            </a:pPr>
            <a:r>
              <a:t>• Lack of Accountability &amp; Audit Trail</a:t>
            </a:r>
          </a:p>
          <a:p>
            <a:pPr>
              <a:spcBef>
                <a:spcPts val="1000"/>
              </a:spcBef>
              <a:spcAft>
                <a:spcPts val="1000"/>
              </a:spcAft>
              <a:defRPr sz="2000">
                <a:solidFill>
                  <a:srgbClr val="212121"/>
                </a:solidFill>
              </a:defRPr>
            </a:pPr>
            <a:r>
              <a:t>• Inefficient Inter-Branch Coordination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PROPOSED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76809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B5E20"/>
                </a:solidFill>
              </a:defRPr>
            </a:pPr>
            <a:r>
              <a:t>GONZAGA DENTAL CLINIC MANAGEMENT AUTOMATION SYSTEM (GDCMAS)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7498079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500"/>
              </a:spcAft>
              <a:defRPr sz="1900">
                <a:solidFill>
                  <a:srgbClr val="212121"/>
                </a:solidFill>
              </a:defRPr>
            </a:pPr>
            <a:r>
              <a:t>A centralized, web-based business process automation system designed to digitize, standardize, and secure all clinic operations across both branches.</a:t>
            </a:r>
          </a:p>
          <a:p>
            <a:pPr algn="ctr">
              <a:defRPr sz="1800" b="1">
                <a:solidFill>
                  <a:srgbClr val="2E7D32"/>
                </a:solidFill>
              </a:defRPr>
            </a:pPr>
            <a:r>
              <a:t>Goal: Replace manual workflows with an integrated platform that ensures efficiency, accessibility, security, and accountability.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SECURITY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4206240" cy="4846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B5E20"/>
                </a:solidFill>
              </a:defRPr>
            </a:pPr>
            <a:r>
              <a:t>AUTHENTICATION &amp; ACCESS</a:t>
            </a:r>
          </a:p>
          <a:p>
            <a:pPr>
              <a:spcBef>
                <a:spcPts val="600"/>
              </a:spcBef>
              <a:defRPr sz="1200">
                <a:solidFill>
                  <a:srgbClr val="212121"/>
                </a:solidFill>
              </a:defRPr>
            </a:pPr>
            <a:r>
              <a:t>• Three-Layer Authorization</a:t>
            </a:r>
          </a:p>
          <a:p>
            <a:pPr>
              <a:spcBef>
                <a:spcPts val="600"/>
              </a:spcBef>
              <a:defRPr sz="1200">
                <a:solidFill>
                  <a:srgbClr val="212121"/>
                </a:solidFill>
              </a:defRPr>
            </a:pPr>
            <a:r>
              <a:t>• Roles from Database, Not JWT</a:t>
            </a:r>
          </a:p>
          <a:p>
            <a:pPr>
              <a:spcBef>
                <a:spcPts val="600"/>
              </a:spcBef>
              <a:defRPr sz="1200">
                <a:solidFill>
                  <a:srgbClr val="212121"/>
                </a:solidFill>
              </a:defRPr>
            </a:pPr>
            <a:r>
              <a:t>• Active-Account Gate</a:t>
            </a:r>
          </a:p>
          <a:p>
            <a:pPr>
              <a:spcBef>
                <a:spcPts val="600"/>
              </a:spcBef>
              <a:defRPr sz="1200">
                <a:solidFill>
                  <a:srgbClr val="212121"/>
                </a:solidFill>
              </a:defRPr>
            </a:pPr>
            <a:r>
              <a:t>• No Self-Promotion/Deactivation</a:t>
            </a:r>
          </a:p>
          <a:p>
            <a:pPr>
              <a:spcBef>
                <a:spcPts val="600"/>
              </a:spcBef>
              <a:defRPr sz="1200">
                <a:solidFill>
                  <a:srgbClr val="212121"/>
                </a:solidFill>
              </a:defRPr>
            </a:pPr>
            <a:r>
              <a:t>• Branch Isolation &amp; Unassigned=No Access</a:t>
            </a:r>
          </a:p>
          <a:p>
            <a:pPr>
              <a:defRPr sz="800"/>
            </a:pPr>
          </a:p>
          <a:p>
            <a:pPr>
              <a:spcBef>
                <a:spcPts val="1000"/>
              </a:spcBef>
              <a:spcAft>
                <a:spcPts val="800"/>
              </a:spcAft>
              <a:defRPr sz="1400" b="1">
                <a:solidFill>
                  <a:srgbClr val="1B5E20"/>
                </a:solidFill>
              </a:defRPr>
            </a:pPr>
            <a:r>
              <a:t>DATA PROTECTION</a:t>
            </a:r>
          </a:p>
          <a:p>
            <a:pPr>
              <a:spcBef>
                <a:spcPts val="600"/>
              </a:spcBef>
              <a:defRPr sz="1200">
                <a:solidFill>
                  <a:srgbClr val="212121"/>
                </a:solidFill>
              </a:defRPr>
            </a:pPr>
            <a:r>
              <a:t>• RLS on All 9 Tables</a:t>
            </a:r>
          </a:p>
          <a:p>
            <a:pPr>
              <a:spcBef>
                <a:spcPts val="600"/>
              </a:spcBef>
              <a:defRPr sz="1200">
                <a:solidFill>
                  <a:srgbClr val="212121"/>
                </a:solidFill>
              </a:defRPr>
            </a:pPr>
            <a:r>
              <a:t>• Clinical Writes: Dentist/Admin Only</a:t>
            </a:r>
          </a:p>
          <a:p>
            <a:pPr>
              <a:spcBef>
                <a:spcPts val="600"/>
              </a:spcBef>
              <a:defRPr sz="1200">
                <a:solidFill>
                  <a:srgbClr val="212121"/>
                </a:solidFill>
              </a:defRPr>
            </a:pPr>
            <a:r>
              <a:t>• Admin-Only Operations</a:t>
            </a:r>
          </a:p>
          <a:p>
            <a:pPr>
              <a:spcBef>
                <a:spcPts val="600"/>
              </a:spcBef>
              <a:defRPr sz="1200">
                <a:solidFill>
                  <a:srgbClr val="212121"/>
                </a:solidFill>
              </a:defRPr>
            </a:pPr>
            <a:r>
              <a:t>• Function Permissions Locked Down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63440" y="1097280"/>
            <a:ext cx="4023360" cy="4846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B5E20"/>
                </a:solidFill>
              </a:defRPr>
            </a:pPr>
            <a:r>
              <a:t>DATA INTEGRITY</a:t>
            </a:r>
          </a:p>
          <a:p>
            <a:pPr>
              <a:spcBef>
                <a:spcPts val="600"/>
              </a:spcBef>
              <a:defRPr sz="1200">
                <a:solidFill>
                  <a:srgbClr val="212121"/>
                </a:solidFill>
              </a:defRPr>
            </a:pPr>
            <a:r>
              <a:t>• No Double Bookings</a:t>
            </a:r>
          </a:p>
          <a:p>
            <a:pPr>
              <a:spcBef>
                <a:spcPts val="600"/>
              </a:spcBef>
              <a:defRPr sz="1200">
                <a:solidFill>
                  <a:srgbClr val="212121"/>
                </a:solidFill>
              </a:defRPr>
            </a:pPr>
            <a:r>
              <a:t>• Cross-Branch Booking Guard</a:t>
            </a:r>
          </a:p>
          <a:p>
            <a:pPr>
              <a:spcBef>
                <a:spcPts val="600"/>
              </a:spcBef>
              <a:defRPr sz="1200">
                <a:solidFill>
                  <a:srgbClr val="212121"/>
                </a:solidFill>
              </a:defRPr>
            </a:pPr>
            <a:r>
              <a:t>• Records Cannot Be Destroyed</a:t>
            </a:r>
          </a:p>
          <a:p>
            <a:pPr>
              <a:spcBef>
                <a:spcPts val="600"/>
              </a:spcBef>
              <a:defRPr sz="1200">
                <a:solidFill>
                  <a:srgbClr val="212121"/>
                </a:solidFill>
              </a:defRPr>
            </a:pPr>
            <a:r>
              <a:t>• Input Validation (Zod)</a:t>
            </a:r>
          </a:p>
          <a:p>
            <a:pPr>
              <a:spcBef>
                <a:spcPts val="600"/>
              </a:spcBef>
              <a:defRPr sz="1200">
                <a:solidFill>
                  <a:srgbClr val="212121"/>
                </a:solidFill>
              </a:defRPr>
            </a:pPr>
            <a:r>
              <a:t>• Strong Password Policy</a:t>
            </a:r>
          </a:p>
          <a:p>
            <a:pPr>
              <a:defRPr sz="800"/>
            </a:pPr>
          </a:p>
          <a:p>
            <a:pPr>
              <a:spcBef>
                <a:spcPts val="1000"/>
              </a:spcBef>
              <a:spcAft>
                <a:spcPts val="800"/>
              </a:spcAft>
              <a:defRPr sz="1400" b="1">
                <a:solidFill>
                  <a:srgbClr val="1B5E20"/>
                </a:solidFill>
              </a:defRPr>
            </a:pPr>
            <a:r>
              <a:t>AUDITING &amp; PUBLIC BOOKING</a:t>
            </a:r>
          </a:p>
          <a:p>
            <a:pPr>
              <a:spcBef>
                <a:spcPts val="600"/>
              </a:spcBef>
              <a:defRPr sz="1200">
                <a:solidFill>
                  <a:srgbClr val="212121"/>
                </a:solidFill>
              </a:defRPr>
            </a:pPr>
            <a:r>
              <a:t>• Append-Only Audit Log</a:t>
            </a:r>
          </a:p>
          <a:p>
            <a:pPr>
              <a:spcBef>
                <a:spcPts val="600"/>
              </a:spcBef>
              <a:defRPr sz="1200">
                <a:solidFill>
                  <a:srgbClr val="212121"/>
                </a:solidFill>
              </a:defRPr>
            </a:pPr>
            <a:r>
              <a:t>• Anon: Zero Table Access</a:t>
            </a:r>
          </a:p>
          <a:p>
            <a:pPr>
              <a:spcBef>
                <a:spcPts val="600"/>
              </a:spcBef>
              <a:defRPr sz="1200">
                <a:solidFill>
                  <a:srgbClr val="212121"/>
                </a:solidFill>
              </a:defRPr>
            </a:pPr>
            <a:r>
              <a:t>• Only 3 Narrow Public Functions</a:t>
            </a:r>
          </a:p>
          <a:p>
            <a:pPr>
              <a:spcBef>
                <a:spcPts val="600"/>
              </a:spcBef>
              <a:defRPr sz="1200">
                <a:solidFill>
                  <a:srgbClr val="212121"/>
                </a:solidFill>
              </a:defRPr>
            </a:pPr>
            <a:r>
              <a:t>• Service Role: Server-Only</a:t>
            </a:r>
          </a:p>
          <a:p>
            <a:pPr>
              <a:spcBef>
                <a:spcPts val="600"/>
              </a:spcBef>
              <a:defRPr sz="1200">
                <a:solidFill>
                  <a:srgbClr val="212121"/>
                </a:solidFill>
              </a:defRPr>
            </a:pPr>
            <a:r>
              <a:t>• Verified by smoke-test.sql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7498079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1200"/>
              </a:spcBef>
              <a:defRPr sz="1800">
                <a:solidFill>
                  <a:srgbClr val="212121"/>
                </a:solidFill>
              </a:defRPr>
            </a:pPr>
            <a:r>
              <a:t>• The core issue is the lack of a standardized, centralized process.</a:t>
            </a:r>
          </a:p>
          <a:p>
            <a:pPr>
              <a:spcBef>
                <a:spcPts val="1200"/>
              </a:spcBef>
              <a:defRPr sz="1800">
                <a:solidFill>
                  <a:srgbClr val="212121"/>
                </a:solidFill>
              </a:defRPr>
            </a:pPr>
            <a:r>
              <a:t>• GDCMAS standardizes the workflow first, then automates it through technology.</a:t>
            </a:r>
          </a:p>
          <a:p>
            <a:pPr>
              <a:spcBef>
                <a:spcPts val="1200"/>
              </a:spcBef>
              <a:defRPr sz="1800">
                <a:solidFill>
                  <a:srgbClr val="212121"/>
                </a:solidFill>
              </a:defRPr>
            </a:pPr>
            <a:r>
              <a:t>• It addresses all identified issues with enterprise-grade, multi-layered security.</a:t>
            </a:r>
          </a:p>
          <a:p>
            <a:pPr>
              <a:spcBef>
                <a:spcPts val="1200"/>
              </a:spcBef>
              <a:defRPr sz="1800">
                <a:solidFill>
                  <a:srgbClr val="212121"/>
                </a:solidFill>
              </a:defRPr>
            </a:pPr>
            <a:r>
              <a:t>• Improves efficiency, accessibility, accountability, and patient care quality.</a:t>
            </a:r>
          </a:p>
          <a:p>
            <a:pPr>
              <a:spcBef>
                <a:spcPts val="1200"/>
              </a:spcBef>
              <a:defRPr sz="1800">
                <a:solidFill>
                  <a:srgbClr val="212121"/>
                </a:solidFill>
              </a:defRPr>
            </a:pPr>
            <a:r>
              <a:t>• Enables seamless inter-branch operations and better continuity of care.</a:t>
            </a:r>
          </a:p>
          <a:p>
            <a:pPr>
              <a:spcBef>
                <a:spcPts val="1200"/>
              </a:spcBef>
              <a:defRPr sz="1800">
                <a:solidFill>
                  <a:srgbClr val="212121"/>
                </a:solidFill>
              </a:defRPr>
            </a:pPr>
            <a:r>
              <a:t>• Provides a solid foundation for the clinic's digital transformation.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64592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0"/>
            <a:ext cx="9144000" cy="10972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600" b="1">
                <a:solidFill>
                  <a:srgbClr val="1B5E20"/>
                </a:solidFill>
              </a:defRPr>
            </a:pPr>
            <a: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2E7D32"/>
                </a:solidFill>
              </a:defRPr>
            </a:pPr>
            <a:r>
              <a:t>WE WELCOME YOUR QUESTIONS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424242"/>
                </a:solidFill>
              </a:defRPr>
            </a:pPr>
            <a:r>
              <a:t>Gonzaga Dental Clinic Management Automation System (GDCMAS)</a:t>
            </a:r>
          </a:p>
          <a:p>
            <a:pPr algn="ctr">
              <a:defRPr sz="1300">
                <a:solidFill>
                  <a:srgbClr val="424242"/>
                </a:solidFill>
              </a:defRPr>
            </a:pPr>
            <a:r>
              <a:t>PHINMA University of Iloilo | College of Information Technology Education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
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097280"/>
          </a:xfrm>
          <a:prstGeom prst="rect">
            <a:avLst/>
          </a:prstGeom>
          <a:solidFill>
            <a:srgbClr val="4A7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E3A8A"/>
                </a:solidFill>
              </a:defRPr>
            </a:pPr>
            <a:r>
              <a:t>GONZAGA DENTAL CLINIC MANAGEMENT AUTOMATION SYSTEM (GDCMAS)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9260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/>
            </a:pPr>
            <a:r>
              <a:t>A Business Process Automation Plan for Streamlining Patient Records,</a:t>
            </a:r>
          </a:p>
          <a:p>
            <a:r>
              <a:t>Appointment Scheduling, and Dental Clinic Operations at Gonzaga Dental Clinic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/>
            </a:pPr>
            <a:r>
              <a:t>Amor, Khent Vincent C. | Galve, Fritz Michael G. | Gayem, Vince</a:t>
            </a:r>
          </a:p>
          <a:p>
            <a:r>
              <a:t>Jeruta, John Paul | Perez, Godwin | Simba, Via Marie</a:t>
            </a:r>
          </a:p>
          <a:p>
            <a:r>
              <a:t>Suasin, Ela | Tamba, Mon Wilbert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54864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/>
            </a:pPr>
            <a:r>
              <a:t>PHINMA University of Iloilo | College of Information Technology Education | 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4A7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BUSINESS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Gonzaga Dental Clinic currently uses a paper-based system:</a:t>
            </a:r>
          </a:p>
          <a:p>
            <a:pPr lvl="1">
              <a:defRPr sz="2000"/>
            </a:pPr>
            <a:r>
              <a:t>• Patient records stored in physical envelopes, binders, and cabinets</a:t>
            </a:r>
          </a:p>
          <a:p>
            <a:pPr lvl="1">
              <a:defRPr sz="2000"/>
            </a:pPr>
            <a:r>
              <a:t>• Appointment information maintained in a logbook</a:t>
            </a:r>
          </a:p>
          <a:p>
            <a:pPr lvl="1">
              <a:defRPr sz="2000"/>
            </a:pPr>
            <a:r>
              <a:t>• Treatment updates recorded on index cards</a:t>
            </a:r>
          </a:p>
          <a:p>
            <a:pPr lvl="1">
              <a:defRPr sz="2000"/>
            </a:pPr>
            <a:r>
              <a:t>• Records not accessible between branches (Main Branch &amp; Second Branch)</a:t>
            </a:r>
          </a:p>
          <a:p>
            <a:pPr lvl="1">
              <a:defRPr sz="2000"/>
            </a:pPr>
            <a:r>
              <a:t>• No backup system for physical records</a:t>
            </a:r>
          </a:p>
          <a:p>
            <a:pPr lvl="1">
              <a:defRPr sz="2000"/>
            </a:pPr>
            <a:r>
              <a:t>• Risk of duplicate patient records</a:t>
            </a:r>
          </a:p>
          <a:p>
            <a:pPr lvl="1">
              <a:defRPr sz="2000"/>
            </a:pPr>
            <a:r>
              <a:t>• Difficulty in checking schedule availability</a:t>
            </a:r>
          </a:p>
          <a:p>
            <a:pPr lvl="1">
              <a:defRPr sz="2000"/>
            </a:pPr>
            <a:r>
              <a:t>• Reliance on sharing photos/messages between branches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4A7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CURRENT PROCESS (AS-IS)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1. Patient Registration - Fill out paper intake forms and consent documents</a:t>
            </a:r>
          </a:p>
          <a:p>
            <a:pPr lvl="1">
              <a:defRPr sz="2200"/>
            </a:pPr>
            <a:r>
              <a:t>2. Record Storage - Documents placed in labeled envelopes and cabinets</a:t>
            </a:r>
          </a:p>
          <a:p>
            <a:pPr lvl="1">
              <a:defRPr sz="2200"/>
            </a:pPr>
            <a:r>
              <a:t>3. Consultation - Dentist reviews patient history from physical files</a:t>
            </a:r>
          </a:p>
          <a:p>
            <a:pPr lvl="1">
              <a:defRPr sz="2200"/>
            </a:pPr>
            <a:r>
              <a:t>4. Treatment Recording - Updates written on index cards</a:t>
            </a:r>
          </a:p>
          <a:p>
            <a:pPr lvl="1">
              <a:defRPr sz="2200"/>
            </a:pPr>
            <a:r>
              <a:t>5. Appointment Booking - Recorded manually in a logbook</a:t>
            </a:r>
          </a:p>
          <a:p>
            <a:pPr lvl="1">
              <a:defRPr sz="2200"/>
            </a:pPr>
            <a:r>
              <a:t>6. Inter-Branch Coordination - Through text messages or sharing photos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4A7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PROBLEMS IDENTIFIED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Fragmented Records - Scattered across physical storage</a:t>
            </a:r>
          </a:p>
          <a:p>
            <a:pPr lvl="1">
              <a:defRPr sz="2000"/>
            </a:pPr>
            <a:r>
              <a:t>• Limited Accessibility - Cannot access records instantly between branches</a:t>
            </a:r>
          </a:p>
          <a:p>
            <a:pPr lvl="1">
              <a:defRPr sz="2000"/>
            </a:pPr>
            <a:r>
              <a:t>• Manual Tracking - Time-consuming search for patient records</a:t>
            </a:r>
          </a:p>
          <a:p>
            <a:pPr lvl="1">
              <a:defRPr sz="2000"/>
            </a:pPr>
            <a:r>
              <a:t>• Scheduling Conflicts - Risk of double-booking due to manual logbook</a:t>
            </a:r>
          </a:p>
          <a:p>
            <a:pPr lvl="1">
              <a:defRPr sz="2000"/>
            </a:pPr>
            <a:r>
              <a:t>• No Data Backup - Records vulnerable to loss or damage</a:t>
            </a:r>
          </a:p>
          <a:p>
            <a:pPr lvl="1">
              <a:defRPr sz="2000"/>
            </a:pPr>
            <a:r>
              <a:t>• Duplicate Records - Created when existing files cannot be located</a:t>
            </a:r>
          </a:p>
          <a:p>
            <a:pPr lvl="1">
              <a:defRPr sz="2000"/>
            </a:pPr>
            <a:r>
              <a:t>• Lack of Accountability - No audit trail of system activities</a:t>
            </a:r>
          </a:p>
          <a:p>
            <a:pPr lvl="1">
              <a:defRPr sz="2000"/>
            </a:pPr>
            <a:r>
              <a:t>• Inefficient Coordination - Delays in inter-branch record sharing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4A7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PROPOSED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1E3A8A"/>
                </a:solidFill>
              </a:defRPr>
            </a:pPr>
            <a:r>
              <a:t>GDCMAS - Gonzaga Dental Clinic Management Automation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011680"/>
            <a:ext cx="8229600" cy="3657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A centralized, web-based system that digitizes:</a:t>
            </a:r>
          </a:p>
          <a:p>
            <a:pPr lvl="1">
              <a:defRPr sz="1800"/>
            </a:pPr>
            <a:r>
              <a:t>• Patient Records Management | • Treatment History with FDI Tooth Chart</a:t>
            </a:r>
          </a:p>
          <a:p>
            <a:pPr lvl="1">
              <a:defRPr sz="1800"/>
            </a:pPr>
            <a:r>
              <a:t>• Appointment Scheduling &amp; Calendar Management | • Digital Consent Forms</a:t>
            </a:r>
          </a:p>
          <a:p>
            <a:pPr lvl="1">
              <a:defRPr sz="1800"/>
            </a:pPr>
            <a:r>
              <a:t>• Inter-Branch Access | • Role-Based Access Control</a:t>
            </a:r>
          </a:p>
          <a:p>
            <a:pPr lvl="1">
              <a:defRPr sz="1800"/>
            </a:pPr>
            <a:r>
              <a:t>• Public Patient Booking Portal | • Audit Logging &amp; Security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4A7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FUTURE-STATE PROCESS (TO-BE)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1. Patient Registration/Retrieval → Search or register in centralized system</a:t>
            </a:r>
          </a:p>
          <a:p>
            <a:pPr lvl="1">
              <a:defRPr sz="1800"/>
            </a:pPr>
            <a:r>
              <a:t>2. Appointment Booking → Schedule with automatic availability checking</a:t>
            </a:r>
          </a:p>
          <a:p>
            <a:pPr lvl="1">
              <a:defRPr sz="1800"/>
            </a:pPr>
            <a:r>
              <a:t>3. Consultation &amp; Treatment → Access digital records, update via digital tooth chart</a:t>
            </a:r>
          </a:p>
          <a:p>
            <a:pPr lvl="1">
              <a:defRPr sz="1800"/>
            </a:pPr>
            <a:r>
              <a:t>4. Record Management → All data automatically stored and synced across branches</a:t>
            </a:r>
          </a:p>
          <a:p>
            <a:pPr lvl="1">
              <a:defRPr sz="1800"/>
            </a:pPr>
            <a:r>
              <a:t>5. Consent Documentation → Digital consent captured with audit trail</a:t>
            </a:r>
          </a:p>
          <a:p>
            <a:pPr lvl="1">
              <a:defRPr sz="1800"/>
            </a:pPr>
            <a:r>
              <a:t>6. Reporting &amp; Monitoring → Real-time overview of appointments and operations</a:t>
            </a:r>
          </a:p>
          <a:p>
            <a:pPr lvl="1">
              <a:defRPr sz="2000" b="1">
                <a:solidFill>
                  <a:srgbClr val="4A7A5C"/>
                </a:solidFill>
              </a:defRPr>
            </a:pPr>
            <a:r>
              <a:t>Key Improvement: Standardized, automated, and centralized process with full traceability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4A7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BUSINESS BENEFITS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41148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Centralization</a:t>
            </a:r>
          </a:p>
          <a:p>
            <a:pPr lvl="1">
              <a:defRPr sz="2200"/>
            </a:pPr>
            <a:r>
              <a:t>• Accessibility</a:t>
            </a:r>
          </a:p>
          <a:p>
            <a:pPr lvl="1">
              <a:defRPr sz="2200"/>
            </a:pPr>
            <a:r>
              <a:t>• Efficiency</a:t>
            </a:r>
          </a:p>
          <a:p>
            <a:pPr lvl="1">
              <a:defRPr sz="2200"/>
            </a:pPr>
            <a:r>
              <a:t>• Accountability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0" y="1097280"/>
            <a:ext cx="41148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Data Security</a:t>
            </a:r>
          </a:p>
          <a:p>
            <a:pPr lvl="1">
              <a:defRPr sz="2200"/>
            </a:pPr>
            <a:r>
              <a:t>• Accuracy</a:t>
            </a:r>
          </a:p>
          <a:p>
            <a:pPr lvl="1">
              <a:defRPr sz="2200"/>
            </a:pPr>
            <a:r>
              <a:t>• Convenience</a:t>
            </a:r>
          </a:p>
          <a:p>
            <a:pPr lvl="1">
              <a:defRPr sz="2200"/>
            </a:pPr>
            <a:r>
              <a:t>• Data Integrity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4A7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TECHNOLOGY STACK &amp; SECURITY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82296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Technology Stack:</a:t>
            </a:r>
          </a:p>
          <a:p>
            <a:pPr lvl="2">
              <a:defRPr sz="1800"/>
            </a:pPr>
            <a:r>
              <a:t>• Frontend: Next.js 16, React 19, TypeScript, Tailwind CSS 4</a:t>
            </a:r>
          </a:p>
          <a:p>
            <a:pPr lvl="2">
              <a:defRPr sz="1800"/>
            </a:pPr>
            <a:r>
              <a:t>• Backend/Database: Supabase (PostgreSQL, Auth, Row Level Security)</a:t>
            </a:r>
          </a:p>
          <a:p>
            <a:pPr lvl="2">
              <a:defRPr sz="1800"/>
            </a:pPr>
            <a:r>
              <a:t>• Validation: Zod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926080"/>
            <a:ext cx="82296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3-Layer Security Protection:</a:t>
            </a:r>
          </a:p>
          <a:p>
            <a:pPr lvl="1">
              <a:defRPr sz="1600"/>
            </a:pPr>
            <a:r>
              <a:t>1. Proxy Layer - Fast redirect for unauthenticated sessions</a:t>
            </a:r>
          </a:p>
          <a:p>
            <a:pPr lvl="1">
              <a:defRPr sz="1600"/>
            </a:pPr>
            <a:r>
              <a:t>2. Server Layer - Database-validated sessions &amp; role checking</a:t>
            </a:r>
          </a:p>
          <a:p>
            <a:pPr lvl="1">
              <a:defRPr sz="1600"/>
            </a:pPr>
            <a:r>
              <a:t>3. Database Layer (RLS) - Row Level Security as the real boundary</a:t>
            </a:r>
          </a:p>
          <a:p>
            <a:pPr lvl="1">
              <a:defRPr sz="1800" b="1">
                <a:solidFill>
                  <a:srgbClr val="4A7A5C"/>
                </a:solidFill>
              </a:defRPr>
            </a:pPr>
            <a:r>
              <a:t>User Roles: Dentist | Secretary | Administrator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4A7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CONCLUSION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• The problem is not just absence of software, but lack of a standardized process</a:t>
            </a:r>
          </a:p>
          <a:p>
            <a:pPr lvl="1">
              <a:defRPr sz="1800"/>
            </a:pPr>
            <a:r>
              <a:t>• Business Process Automation: Standardize first, then automate with technology</a:t>
            </a:r>
          </a:p>
          <a:p>
            <a:pPr lvl="1">
              <a:defRPr sz="1800"/>
            </a:pPr>
            <a:r>
              <a:t>• GDCMAS addresses all identified issues through centralization and automation</a:t>
            </a:r>
          </a:p>
          <a:p>
            <a:pPr lvl="1">
              <a:defRPr sz="1800"/>
            </a:pPr>
            <a:r>
              <a:t>• Improves efficiency, accessibility, security, accountability, and patient care</a:t>
            </a:r>
          </a:p>
          <a:p>
            <a:pPr lvl="1">
              <a:defRPr sz="1800"/>
            </a:pPr>
            <a:r>
              <a:t>• Enables better continuity of care across both branches</a:t>
            </a:r>
          </a:p>
          <a:p>
            <a:pPr lvl="1">
              <a:defRPr sz="1800"/>
            </a:pPr>
            <a:r>
              <a:t>• Provides a solid foundation for the clinic's digital transformation</a:t>
            </a:r>
          </a:p>
          <a:p>
            <a:pPr lvl="1">
              <a:defRPr sz="1600" i="1">
                <a:solidFill>
                  <a:srgbClr val="4A7A5C"/>
                </a:solidFill>
              </a:defRPr>
            </a:pPr>
            <a:r>
              <a:t>"Business Process Automation allows the organization to standardize the process first and then use technology to support and automate it."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1371600"/>
          </a:xfrm>
          <a:prstGeom prst="rect">
            <a:avLst/>
          </a:prstGeom>
          <a:solidFill>
            <a:srgbClr val="4A7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1E3A8A"/>
                </a:solidFill>
              </a:defRPr>
            </a:pPr>
            <a:r>
              <a:t>THANK YOU!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/>
            </a:pPr>
            <a:r>
              <a:t>Questions and 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600"/>
            </a:pPr>
            <a:r>
              <a:t>Gonzaga Dental Clinic Management Automation System (GDCMAS)</a:t>
            </a:r>
          </a:p>
          <a:p>
            <a:r>
              <a:t>PHINMA University of Iloilo - College of Information Technology Education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
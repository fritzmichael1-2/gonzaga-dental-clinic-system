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463040"/>
            <a:ext cx="85953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3A8A"/>
                </a:solidFill>
              </a:defRPr>
            </a:pPr>
            <a:r>
              <a:t>GONZAGA DENTAL CLINIC MANAGEMENT AUTOMATION SYSTEM (GDCMAS)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A Business Process Automation Plan for Streamlining Patient Records,</a:t>
            </a:r>
          </a:p>
          <a:p>
            <a:r>
              <a:t>Appointment Scheduling, and Dental Clinic Operations at Gonzaga Dental Clinic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54880"/>
            <a:ext cx="8595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Amor, Khent Vincent C. | Galve, Fritz Michael G. | Gayem, Vince</a:t>
            </a:r>
          </a:p>
          <a:p>
            <a:r>
              <a:t>Jeruta, John Paul | Perez, Godwin | Simba, Via Marie</a:t>
            </a:r>
          </a:p>
          <a:p>
            <a:r>
              <a:t>Suasin, Ela | Tamba, Mon Wilbert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1792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A7A5C"/>
                </a:solidFill>
              </a:defRPr>
            </a:pPr>
            <a:r>
              <a:t>PHINMA University of Iloilo | College of Information Technology Education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1. Business Problem</a:t>
            </a:r>
          </a:p>
          <a:p>
            <a:pPr lvl="1">
              <a:defRPr sz="2200"/>
            </a:pPr>
            <a:r>
              <a:t>2. Current Process (As-Is)</a:t>
            </a:r>
          </a:p>
          <a:p>
            <a:pPr lvl="1">
              <a:defRPr sz="2200"/>
            </a:pPr>
            <a:r>
              <a:t>3. Problems Identified</a:t>
            </a:r>
          </a:p>
          <a:p>
            <a:pPr lvl="1">
              <a:defRPr sz="2200"/>
            </a:pPr>
            <a:r>
              <a:t>4. Proposed Solution (GDCMAS)</a:t>
            </a:r>
          </a:p>
          <a:p>
            <a:pPr lvl="1">
              <a:defRPr sz="2200"/>
            </a:pPr>
            <a:r>
              <a:t>5. Core Features</a:t>
            </a:r>
          </a:p>
          <a:p>
            <a:pPr lvl="1">
              <a:defRPr sz="2200"/>
            </a:pPr>
            <a:r>
              <a:t>6. Future-State Process (To-Be)</a:t>
            </a:r>
          </a:p>
          <a:p>
            <a:pPr lvl="1">
              <a:defRPr sz="2200"/>
            </a:pPr>
            <a:r>
              <a:t>7. Technology Stack</a:t>
            </a:r>
          </a:p>
          <a:p>
            <a:pPr lvl="1">
              <a:defRPr sz="2200"/>
            </a:pPr>
            <a:r>
              <a:t>8. Security Features</a:t>
            </a:r>
          </a:p>
          <a:p>
            <a:pPr lvl="1">
              <a:defRPr sz="2200"/>
            </a:pPr>
            <a:r>
              <a:t>9. Benefits &amp; Conclusion</a:t>
            </a:r>
          </a:p>
          <a:p>
            <a:pPr lvl="1">
              <a:defRPr sz="2200"/>
            </a:pPr>
            <a:r>
              <a:t>10. Q &amp;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Gonzaga Dental Clinic currently uses a paper-based system:</a:t>
            </a:r>
          </a:p>
          <a:p>
            <a:pPr lvl="1">
              <a:defRPr sz="2000"/>
            </a:pPr>
            <a:r>
              <a:t>• Patient records in physical envelopes, binders, and cabinets</a:t>
            </a:r>
          </a:p>
          <a:p>
            <a:pPr lvl="1">
              <a:defRPr sz="2000"/>
            </a:pPr>
            <a:r>
              <a:t>• Appointments recorded in a logbook</a:t>
            </a:r>
          </a:p>
          <a:p>
            <a:pPr lvl="1">
              <a:defRPr sz="2000"/>
            </a:pPr>
            <a:r>
              <a:t>• Treatments recorded on index cards</a:t>
            </a:r>
          </a:p>
          <a:p>
            <a:pPr lvl="1">
              <a:defRPr sz="2000"/>
            </a:pPr>
            <a:r>
              <a:t>• No inter-branch record accessibility</a:t>
            </a:r>
          </a:p>
          <a:p>
            <a:pPr lvl="1">
              <a:defRPr sz="2000"/>
            </a:pPr>
            <a:r>
              <a:t>• No backup system for physical records</a:t>
            </a:r>
          </a:p>
          <a:p>
            <a:pPr lvl="1">
              <a:defRPr sz="2000"/>
            </a:pPr>
            <a:r>
              <a:t>• Risk of duplicate records &amp; data loss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PROBLEMS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Fragmented Records &amp; Limited Accessibility</a:t>
            </a:r>
          </a:p>
          <a:p>
            <a:pPr lvl="1">
              <a:defRPr sz="2000"/>
            </a:pPr>
            <a:r>
              <a:t>• Manual Tracking - Time-consuming searches</a:t>
            </a:r>
          </a:p>
          <a:p>
            <a:pPr lvl="1">
              <a:defRPr sz="2000"/>
            </a:pPr>
            <a:r>
              <a:t>• Scheduling Conflicts - Risk of double-booking</a:t>
            </a:r>
          </a:p>
          <a:p>
            <a:pPr lvl="1">
              <a:defRPr sz="2000"/>
            </a:pPr>
            <a:r>
              <a:t>• No Data Backup - Vulnerable to loss/damage</a:t>
            </a:r>
          </a:p>
          <a:p>
            <a:pPr lvl="1">
              <a:defRPr sz="2000"/>
            </a:pPr>
            <a:r>
              <a:t>• Duplicate Records - Fragmented patient history</a:t>
            </a:r>
          </a:p>
          <a:p>
            <a:pPr lvl="1">
              <a:defRPr sz="2000"/>
            </a:pPr>
            <a:r>
              <a:t>• Lack of Accountability - No audit trail</a:t>
            </a:r>
          </a:p>
          <a:p>
            <a:pPr lvl="1">
              <a:defRPr sz="2000"/>
            </a:pPr>
            <a:r>
              <a:t>• Inefficient Inter-Branch Coordination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E3A8A"/>
                </a:solidFill>
              </a:defRPr>
            </a:pPr>
            <a:r>
              <a:t>GDCMAS - Gonzaga Dental Clinic Management Automation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04672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centralized, web-based system that automates and digitizes clinic operations with:</a:t>
            </a:r>
          </a:p>
          <a:p>
            <a:pPr lvl="1">
              <a:defRPr sz="1900"/>
            </a:pPr>
            <a:r>
              <a:t>✓ Centralized Patient Records  ✓ Digital Treatment History</a:t>
            </a:r>
          </a:p>
          <a:p>
            <a:pPr lvl="1">
              <a:defRPr sz="1900"/>
            </a:pPr>
            <a:r>
              <a:t>✓ Appointment Scheduling  ✓ Role-Based Access Control</a:t>
            </a:r>
          </a:p>
          <a:p>
            <a:pPr lvl="1">
              <a:defRPr sz="1900"/>
            </a:pPr>
            <a:r>
              <a:t>✓ Public Booking Portal  ✓ Multi-Layer Security</a:t>
            </a:r>
          </a:p>
          <a:p>
            <a:pPr lvl="1">
              <a:defRPr sz="1900"/>
            </a:pPr>
            <a:r>
              <a:t>✓ Audit Logging  ✓ Inter-Branch Accessibility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SECURITY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42976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AUTHENTICATION &amp; ACCESS</a:t>
            </a:r>
          </a:p>
          <a:p>
            <a:pPr lvl="1">
              <a:defRPr sz="1200"/>
            </a:pPr>
            <a:r>
              <a:t>• 3-Layer Authorization (Proxy → Server → RLS)</a:t>
            </a:r>
          </a:p>
          <a:p>
            <a:pPr lvl="1">
              <a:defRPr sz="1200"/>
            </a:pPr>
            <a:r>
              <a:t>• Roles from DB, not JWT</a:t>
            </a:r>
          </a:p>
          <a:p>
            <a:pPr lvl="1">
              <a:defRPr sz="1200"/>
            </a:pPr>
            <a:r>
              <a:t>• Active-account gate</a:t>
            </a:r>
          </a:p>
          <a:p>
            <a:pPr lvl="1">
              <a:defRPr sz="1200"/>
            </a:pPr>
            <a:r>
              <a:t>• No self-promotion/deactivation</a:t>
            </a:r>
          </a:p>
          <a:p>
            <a:pPr lvl="1">
              <a:defRPr sz="1200"/>
            </a:pPr>
            <a:r>
              <a:t>• Branch isolation &amp; unassigned=no access</a:t>
            </a:r>
          </a:p>
          <a:p>
            <a:pPr lvl="1">
              <a:defRPr b="1" sz="1300"/>
            </a:pPr>
            <a:r>
              <a:t>DATA PROTECTION</a:t>
            </a:r>
          </a:p>
          <a:p>
            <a:pPr lvl="1">
              <a:defRPr sz="1200"/>
            </a:pPr>
            <a:r>
              <a:t>• RLS on all 9 tables</a:t>
            </a:r>
          </a:p>
          <a:p>
            <a:pPr lvl="1">
              <a:defRPr sz="1200"/>
            </a:pPr>
            <a:r>
              <a:t>• Clinical writes: Dentist/Admin only</a:t>
            </a:r>
          </a:p>
          <a:p>
            <a:pPr lvl="1">
              <a:defRPr sz="1200"/>
            </a:pPr>
            <a:r>
              <a:t>• Admin-only ops (staff, audit, settings)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40233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CONSTRAINTS &amp; AUDITING</a:t>
            </a:r>
          </a:p>
          <a:p>
            <a:pPr lvl="1">
              <a:defRPr sz="1200"/>
            </a:pPr>
            <a:r>
              <a:t>• No double bookings (DB constraints)</a:t>
            </a:r>
          </a:p>
          <a:p>
            <a:pPr lvl="1">
              <a:defRPr sz="1200"/>
            </a:pPr>
            <a:r>
              <a:t>• Cross-branch booking guard</a:t>
            </a:r>
          </a:p>
          <a:p>
            <a:pPr lvl="1">
              <a:defRPr sz="1200"/>
            </a:pPr>
            <a:r>
              <a:t>• Records cannot be destroyed</a:t>
            </a:r>
          </a:p>
          <a:p>
            <a:pPr lvl="1">
              <a:defRPr sz="1200"/>
            </a:pPr>
            <a:r>
              <a:t>• Append-only audit log</a:t>
            </a:r>
          </a:p>
          <a:p>
            <a:pPr lvl="1">
              <a:defRPr sz="1200"/>
            </a:pPr>
            <a:r>
              <a:t>• Input validation (Zod)</a:t>
            </a:r>
          </a:p>
          <a:p>
            <a:pPr lvl="1">
              <a:defRPr b="1" sz="1300"/>
            </a:pPr>
            <a:r>
              <a:t>PUBLIC BOOKING SECURITY</a:t>
            </a:r>
          </a:p>
          <a:p>
            <a:pPr lvl="1">
              <a:defRPr sz="1200"/>
            </a:pPr>
            <a:r>
              <a:t>• Anon has zero table access</a:t>
            </a:r>
          </a:p>
          <a:p>
            <a:pPr lvl="1">
              <a:defRPr sz="1200"/>
            </a:pPr>
            <a:r>
              <a:t>• Only 3 narrow functions accessible</a:t>
            </a:r>
          </a:p>
          <a:p>
            <a:pPr lvl="1">
              <a:defRPr sz="1200"/>
            </a:pPr>
            <a:r>
              <a:t>• Service role server-only</a:t>
            </a:r>
          </a:p>
          <a:p>
            <a:pPr lvl="1">
              <a:defRPr sz="1200"/>
            </a:pPr>
            <a:r>
              <a:t>• Verified by smoke-test.sql (25 tests)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FRONTEND</a:t>
            </a:r>
          </a:p>
          <a:p>
            <a:pPr lvl="2">
              <a:defRPr sz="1800"/>
            </a:pPr>
            <a:r>
              <a:t>Next.js 16 (App Router) • React 19 • TypeScript • Tailwind CSS 4</a:t>
            </a:r>
          </a:p>
          <a:p>
            <a:pPr lvl="1">
              <a:defRPr b="1" sz="2000"/>
            </a:pPr>
            <a:r>
              <a:t>BACKEND &amp; DATABASE</a:t>
            </a:r>
          </a:p>
          <a:p>
            <a:pPr lvl="2">
              <a:defRPr sz="1800"/>
            </a:pPr>
            <a:r>
              <a:t>Supabase (PostgreSQL, GoTrue Auth, Row Level Security)</a:t>
            </a:r>
          </a:p>
          <a:p>
            <a:pPr lvl="1">
              <a:defRPr b="1" sz="2000"/>
            </a:pPr>
            <a:r>
              <a:t>VALIDATION &amp; SECURITY</a:t>
            </a:r>
          </a:p>
          <a:p>
            <a:pPr lvl="2">
              <a:defRPr sz="1800"/>
            </a:pPr>
            <a:r>
              <a:t>Zod Schema Validation • Multi-Layer Authorization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The issue is lack of standardized, centralized process - not just software</a:t>
            </a:r>
          </a:p>
          <a:p>
            <a:pPr lvl="1">
              <a:defRPr sz="1800"/>
            </a:pPr>
            <a:r>
              <a:t>• GDCMAS standardizes workflow first, then automates with technology</a:t>
            </a:r>
          </a:p>
          <a:p>
            <a:pPr lvl="1">
              <a:defRPr sz="1800"/>
            </a:pPr>
            <a:r>
              <a:t>• Addresses all identified issues with enterprise-grade security</a:t>
            </a:r>
          </a:p>
          <a:p>
            <a:pPr lvl="1">
              <a:defRPr sz="1800"/>
            </a:pPr>
            <a:r>
              <a:t>• Improves efficiency, accessibility, accountability &amp; patient care</a:t>
            </a:r>
          </a:p>
          <a:p>
            <a:pPr lvl="1">
              <a:defRPr sz="1800"/>
            </a:pPr>
            <a:r>
              <a:t>• Centralized records enable better continuity of care across branches</a:t>
            </a:r>
          </a:p>
          <a:p>
            <a:pPr lvl="1">
              <a:defRPr sz="1800"/>
            </a:pPr>
            <a:r>
              <a:t>• Ready for implementation with proper validation and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E3A8A"/>
                </a:solidFill>
              </a:defRPr>
            </a:pPr>
            <a:r>
              <a:t>THANK YOU!</a:t>
            </a:r>
          </a:p>
          <a:p>
            <a:r>
              <a:t>Questions and Answers</a:t>
            </a:r>
          </a:p>
          <a:p>
            <a:pPr algn="ctr">
              <a:defRPr sz="1400">
                <a:solidFill>
                  <a:srgbClr val="4A7A5C"/>
                </a:solidFill>
              </a:defRPr>
            </a:pPr>
            <a:r>
              <a:t>PHINMA University of Iloilo - College of Information Technology Education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
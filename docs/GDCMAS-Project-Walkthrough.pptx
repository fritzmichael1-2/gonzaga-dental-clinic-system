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24"/>
        </a:solidFill>
        <a:effectLst/>
      </p:bgPr>
    </p:bg>
    <p:spTree>
      <p:nvGrpSpPr>
        <p:cNvPr id="1" name=""/>
        <p:cNvGrpSpPr/>
        <p:nvPr/>
      </p:nvGrpSpPr>
      <p:grpSpPr/>
      <p:sp>
        <p:nvSpPr>
          <p:cNvPr id="2" name="TextBox 1"/>
          <p:cNvSpPr txBox="1"/>
          <p:nvPr/>
        </p:nvSpPr>
        <p:spPr>
          <a:xfrm>
            <a:off x="566928" y="2286000"/>
            <a:ext cx="9601200" cy="1280160"/>
          </a:xfrm>
          <a:prstGeom prst="rect">
            <a:avLst/>
          </a:prstGeom>
          <a:noFill/>
        </p:spPr>
        <p:txBody>
          <a:bodyPr wrap="square">
            <a:spAutoFit/>
          </a:bodyPr>
          <a:lstStyle/>
          <a:p>
            <a:pPr algn="l">
              <a:spcAft>
                <a:spcPts val="600"/>
              </a:spcAft>
            </a:pPr>
            <a:r>
              <a:rPr sz="4400" b="1">
                <a:solidFill>
                  <a:srgbClr val="F8FAFC"/>
                </a:solidFill>
                <a:latin typeface="Calibri"/>
              </a:rPr>
              <a:t>Gonzaga Dental Clinic</a:t>
            </a:r>
          </a:p>
          <a:p>
            <a:pPr algn="l">
              <a:spcAft>
                <a:spcPts val="0"/>
              </a:spcAft>
            </a:pPr>
            <a:r>
              <a:rPr sz="2200" b="0">
                <a:solidFill>
                  <a:srgbClr val="7DD3FC"/>
                </a:solidFill>
                <a:latin typeface="Calibri"/>
              </a:rPr>
              <a:t>Two branches, one patient record</a:t>
            </a:r>
          </a:p>
        </p:txBody>
      </p:sp>
      <p:sp>
        <p:nvSpPr>
          <p:cNvPr id="3" name="Rectangle 2"/>
          <p:cNvSpPr/>
          <p:nvPr/>
        </p:nvSpPr>
        <p:spPr>
          <a:xfrm>
            <a:off x="566928" y="3794760"/>
            <a:ext cx="274320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4069080"/>
            <a:ext cx="9601200" cy="1097280"/>
          </a:xfrm>
          <a:prstGeom prst="rect">
            <a:avLst/>
          </a:prstGeom>
          <a:noFill/>
        </p:spPr>
        <p:txBody>
          <a:bodyPr wrap="square">
            <a:spAutoFit/>
          </a:bodyPr>
          <a:lstStyle/>
          <a:p>
            <a:pPr algn="l">
              <a:spcAft>
                <a:spcPts val="400"/>
              </a:spcAft>
            </a:pPr>
            <a:r>
              <a:rPr sz="1400" b="0">
                <a:solidFill>
                  <a:srgbClr val="CBF5E1"/>
                </a:solidFill>
                <a:latin typeface="Calibri"/>
              </a:rPr>
              <a:t>Clinic management system · interface walkthrough</a:t>
            </a:r>
          </a:p>
          <a:p>
            <a:pPr algn="l">
              <a:spcAft>
                <a:spcPts val="0"/>
              </a:spcAft>
            </a:pPr>
            <a:r>
              <a:rPr sz="1150" b="0">
                <a:solidFill>
                  <a:srgbClr val="94A3B8"/>
                </a:solidFill>
                <a:latin typeface="Calibri"/>
              </a:rPr>
              <a:t>All screens shown use fabricated sample data. No real patient information is present.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566928" y="310896"/>
            <a:ext cx="8595360" cy="457200"/>
          </a:xfrm>
          <a:prstGeom prst="rect">
            <a:avLst/>
          </a:prstGeom>
          <a:noFill/>
        </p:spPr>
        <p:txBody>
          <a:bodyPr wrap="square">
            <a:spAutoFit/>
          </a:bodyPr>
          <a:lstStyle/>
          <a:p>
            <a:pPr algn="l">
              <a:spcAft>
                <a:spcPts val="0"/>
              </a:spcAft>
            </a:pPr>
            <a:r>
              <a:rPr sz="2400" b="1">
                <a:solidFill>
                  <a:srgbClr val="1C1917"/>
                </a:solidFill>
                <a:latin typeface="Calibri"/>
              </a:rPr>
              <a:t>What this replaces</a:t>
            </a:r>
          </a:p>
        </p:txBody>
      </p:sp>
      <p:sp>
        <p:nvSpPr>
          <p:cNvPr id="3" name="Rectangle 2"/>
          <p:cNvSpPr/>
          <p:nvPr/>
        </p:nvSpPr>
        <p:spPr>
          <a:xfrm>
            <a:off x="566928" y="841248"/>
            <a:ext cx="11057839" cy="254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382512"/>
            <a:ext cx="3657600" cy="274320"/>
          </a:xfrm>
          <a:prstGeom prst="rect">
            <a:avLst/>
          </a:prstGeom>
          <a:noFill/>
        </p:spPr>
        <p:txBody>
          <a:bodyPr wrap="square">
            <a:spAutoFit/>
          </a:bodyPr>
          <a:lstStyle/>
          <a:p>
            <a:pPr algn="l">
              <a:spcAft>
                <a:spcPts val="0"/>
              </a:spcAft>
            </a:pPr>
            <a:r>
              <a:rPr sz="900" b="0">
                <a:solidFill>
                  <a:srgbClr val="78716C"/>
                </a:solidFill>
                <a:latin typeface="Calibri"/>
              </a:rPr>
              <a:t>Gonzaga Dental Clinic · 02 / 27</a:t>
            </a:r>
          </a:p>
        </p:txBody>
      </p:sp>
      <p:sp>
        <p:nvSpPr>
          <p:cNvPr id="5" name="TextBox 4"/>
          <p:cNvSpPr txBox="1"/>
          <p:nvPr/>
        </p:nvSpPr>
        <p:spPr>
          <a:xfrm>
            <a:off x="566928" y="1234440"/>
            <a:ext cx="5577840" cy="4572000"/>
          </a:xfrm>
          <a:prstGeom prst="rect">
            <a:avLst/>
          </a:prstGeom>
          <a:noFill/>
        </p:spPr>
        <p:txBody>
          <a:bodyPr wrap="square">
            <a:spAutoFit/>
          </a:bodyPr>
          <a:lstStyle/>
          <a:p>
            <a:pPr>
              <a:spcAft>
                <a:spcPts val="900"/>
              </a:spcAft>
            </a:pPr>
            <a:r>
              <a:rPr sz="1400">
                <a:solidFill>
                  <a:srgbClr val="1C1917"/>
                </a:solidFill>
                <a:latin typeface="Calibri"/>
              </a:rPr>
              <a:t>•  A paper front-desk register: a wall calendar for appointments and a card index for treatment history.</a:t>
            </a:r>
          </a:p>
          <a:p>
            <a:pPr>
              <a:spcAft>
                <a:spcPts val="900"/>
              </a:spcAft>
            </a:pPr>
            <a:r>
              <a:rPr sz="1400">
                <a:solidFill>
                  <a:srgbClr val="1C1917"/>
                </a:solidFill>
                <a:latin typeface="Calibri"/>
              </a:rPr>
              <a:t>•  The card index is where patient safety degrades — an allergy noted on one card is invisible on the next.</a:t>
            </a:r>
          </a:p>
          <a:p>
            <a:pPr>
              <a:spcAft>
                <a:spcPts val="900"/>
              </a:spcAft>
            </a:pPr>
            <a:r>
              <a:rPr sz="1400">
                <a:solidFill>
                  <a:srgbClr val="1C1917"/>
                </a:solidFill>
                <a:latin typeface="Calibri"/>
              </a:rPr>
              <a:t>•  With two branches, patients appear at either site, so a single shared record is the minimum requirement, not a nice-to-have.</a:t>
            </a:r>
          </a:p>
          <a:p>
            <a:pPr>
              <a:spcAft>
                <a:spcPts val="900"/>
              </a:spcAft>
            </a:pPr>
            <a:r>
              <a:rPr sz="1400">
                <a:solidFill>
                  <a:srgbClr val="1C1917"/>
                </a:solidFill>
                <a:latin typeface="Calibri"/>
              </a:rPr>
              <a:t>•  Appointments, clinical notes and consent are kept apart by role, so a secretary cannot silently alter a clinical record.</a:t>
            </a:r>
          </a:p>
        </p:txBody>
      </p:sp>
      <p:sp>
        <p:nvSpPr>
          <p:cNvPr id="6" name="TextBox 5"/>
          <p:cNvSpPr txBox="1"/>
          <p:nvPr/>
        </p:nvSpPr>
        <p:spPr>
          <a:xfrm>
            <a:off x="6400800" y="1234440"/>
            <a:ext cx="5212080" cy="4572000"/>
          </a:xfrm>
          <a:prstGeom prst="rect">
            <a:avLst/>
          </a:prstGeom>
          <a:noFill/>
        </p:spPr>
        <p:txBody>
          <a:bodyPr wrap="square">
            <a:spAutoFit/>
          </a:bodyPr>
          <a:lstStyle/>
          <a:p>
            <a:pPr>
              <a:spcAft>
                <a:spcPts val="900"/>
              </a:spcAft>
            </a:pPr>
            <a:r>
              <a:rPr sz="1400">
                <a:solidFill>
                  <a:srgbClr val="1C1917"/>
                </a:solidFill>
                <a:latin typeface="Calibri"/>
              </a:rPr>
              <a:t>•  Next.js app with PostgreSQL row-level security as the only authority on who sees what.</a:t>
            </a:r>
          </a:p>
          <a:p>
            <a:pPr>
              <a:spcAft>
                <a:spcPts val="900"/>
              </a:spcAft>
            </a:pPr>
            <a:r>
              <a:rPr sz="1400">
                <a:solidFill>
                  <a:srgbClr val="1C1917"/>
                </a:solidFill>
                <a:latin typeface="Calibri"/>
              </a:rPr>
              <a:t>•  Branch scoping is enforced in the database, so a hidden button is never the thing standing between two patients.</a:t>
            </a:r>
          </a:p>
          <a:p>
            <a:pPr>
              <a:spcAft>
                <a:spcPts val="900"/>
              </a:spcAft>
            </a:pPr>
            <a:r>
              <a:rPr sz="1400">
                <a:solidFill>
                  <a:srgbClr val="1C1917"/>
                </a:solidFill>
                <a:latin typeface="Calibri"/>
              </a:rPr>
              <a:t>•  Preview mode renders every screen against fabricated data with no database, so the interface can be reviewed before a backend is committed to.</a:t>
            </a:r>
          </a:p>
          <a:p>
            <a:pPr>
              <a:spcAft>
                <a:spcPts val="900"/>
              </a:spcAft>
            </a:pPr>
            <a:r>
              <a:rPr sz="1400">
                <a:solidFill>
                  <a:srgbClr val="1C1917"/>
                </a:solidFill>
                <a:latin typeface="Calibri"/>
              </a:rPr>
              <a:t>•  Designed around the three screens staff use all day: the day list, the patient record, and charting a tooth.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566928" y="310896"/>
            <a:ext cx="8595360" cy="457200"/>
          </a:xfrm>
          <a:prstGeom prst="rect">
            <a:avLst/>
          </a:prstGeom>
          <a:noFill/>
        </p:spPr>
        <p:txBody>
          <a:bodyPr wrap="square">
            <a:spAutoFit/>
          </a:bodyPr>
          <a:lstStyle/>
          <a:p>
            <a:pPr algn="l">
              <a:spcAft>
                <a:spcPts val="0"/>
              </a:spcAft>
            </a:pPr>
            <a:r>
              <a:rPr sz="2400" b="1">
                <a:solidFill>
                  <a:srgbClr val="1C1917"/>
                </a:solidFill>
                <a:latin typeface="Calibri"/>
              </a:rPr>
              <a:t>Who sees what</a:t>
            </a:r>
          </a:p>
        </p:txBody>
      </p:sp>
      <p:sp>
        <p:nvSpPr>
          <p:cNvPr id="3" name="Rectangle 2"/>
          <p:cNvSpPr/>
          <p:nvPr/>
        </p:nvSpPr>
        <p:spPr>
          <a:xfrm>
            <a:off x="566928" y="841248"/>
            <a:ext cx="11057839" cy="254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382512"/>
            <a:ext cx="3657600" cy="274320"/>
          </a:xfrm>
          <a:prstGeom prst="rect">
            <a:avLst/>
          </a:prstGeom>
          <a:noFill/>
        </p:spPr>
        <p:txBody>
          <a:bodyPr wrap="square">
            <a:spAutoFit/>
          </a:bodyPr>
          <a:lstStyle/>
          <a:p>
            <a:pPr algn="l">
              <a:spcAft>
                <a:spcPts val="0"/>
              </a:spcAft>
            </a:pPr>
            <a:r>
              <a:rPr sz="900" b="0">
                <a:solidFill>
                  <a:srgbClr val="78716C"/>
                </a:solidFill>
                <a:latin typeface="Calibri"/>
              </a:rPr>
              <a:t>Gonzaga Dental Clinic · 03 / 27</a:t>
            </a:r>
          </a:p>
        </p:txBody>
      </p:sp>
      <p:sp>
        <p:nvSpPr>
          <p:cNvPr id="5" name="Rectangle 4"/>
          <p:cNvSpPr/>
          <p:nvPr/>
        </p:nvSpPr>
        <p:spPr>
          <a:xfrm>
            <a:off x="566928" y="1325880"/>
            <a:ext cx="11057839" cy="12700"/>
          </a:xfrm>
          <a:prstGeom prst="rect">
            <a:avLst/>
          </a:prstGeom>
          <a:solidFill>
            <a:srgbClr val="E7E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72184"/>
            <a:ext cx="1920240" cy="365760"/>
          </a:xfrm>
          <a:prstGeom prst="rect">
            <a:avLst/>
          </a:prstGeom>
          <a:noFill/>
        </p:spPr>
        <p:txBody>
          <a:bodyPr wrap="square">
            <a:spAutoFit/>
          </a:bodyPr>
          <a:lstStyle/>
          <a:p>
            <a:pPr algn="l">
              <a:spcAft>
                <a:spcPts val="0"/>
              </a:spcAft>
            </a:pPr>
            <a:r>
              <a:rPr sz="1500" b="1">
                <a:solidFill>
                  <a:srgbClr val="0F766E"/>
                </a:solidFill>
                <a:latin typeface="Calibri"/>
              </a:rPr>
              <a:t>Secretary</a:t>
            </a:r>
          </a:p>
        </p:txBody>
      </p:sp>
      <p:sp>
        <p:nvSpPr>
          <p:cNvPr id="7" name="TextBox 6"/>
          <p:cNvSpPr txBox="1"/>
          <p:nvPr/>
        </p:nvSpPr>
        <p:spPr>
          <a:xfrm>
            <a:off x="2743200" y="1472184"/>
            <a:ext cx="2194560" cy="365760"/>
          </a:xfrm>
          <a:prstGeom prst="rect">
            <a:avLst/>
          </a:prstGeom>
          <a:noFill/>
        </p:spPr>
        <p:txBody>
          <a:bodyPr wrap="square">
            <a:spAutoFit/>
          </a:bodyPr>
          <a:lstStyle/>
          <a:p>
            <a:pPr algn="l">
              <a:spcAft>
                <a:spcPts val="0"/>
              </a:spcAft>
            </a:pPr>
            <a:r>
              <a:rPr sz="1500" b="1">
                <a:solidFill>
                  <a:srgbClr val="1C1917"/>
                </a:solidFill>
                <a:latin typeface="Calibri"/>
              </a:rPr>
              <a:t>Own branch only</a:t>
            </a:r>
          </a:p>
        </p:txBody>
      </p:sp>
      <p:sp>
        <p:nvSpPr>
          <p:cNvPr id="8" name="TextBox 7"/>
          <p:cNvSpPr txBox="1"/>
          <p:nvPr/>
        </p:nvSpPr>
        <p:spPr>
          <a:xfrm>
            <a:off x="5120640" y="1472184"/>
            <a:ext cx="6492240" cy="731520"/>
          </a:xfrm>
          <a:prstGeom prst="rect">
            <a:avLst/>
          </a:prstGeom>
          <a:noFill/>
        </p:spPr>
        <p:txBody>
          <a:bodyPr wrap="square">
            <a:spAutoFit/>
          </a:bodyPr>
          <a:lstStyle/>
          <a:p>
            <a:pPr algn="l">
              <a:spcAft>
                <a:spcPts val="0"/>
              </a:spcAft>
            </a:pPr>
            <a:r>
              <a:rPr sz="1250" b="0">
                <a:solidFill>
                  <a:srgbClr val="1C1917"/>
                </a:solidFill>
                <a:latin typeface="Calibri"/>
              </a:rPr>
              <a:t>Patients, appointments, consent. Cannot record treatments or see staff, backups, audit or the branch comparison.</a:t>
            </a:r>
          </a:p>
        </p:txBody>
      </p:sp>
      <p:sp>
        <p:nvSpPr>
          <p:cNvPr id="9" name="Rectangle 8"/>
          <p:cNvSpPr/>
          <p:nvPr/>
        </p:nvSpPr>
        <p:spPr>
          <a:xfrm>
            <a:off x="566928" y="2167128"/>
            <a:ext cx="11057839" cy="12700"/>
          </a:xfrm>
          <a:prstGeom prst="rect">
            <a:avLst/>
          </a:prstGeom>
          <a:solidFill>
            <a:srgbClr val="E7E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2313432"/>
            <a:ext cx="1920240" cy="365760"/>
          </a:xfrm>
          <a:prstGeom prst="rect">
            <a:avLst/>
          </a:prstGeom>
          <a:noFill/>
        </p:spPr>
        <p:txBody>
          <a:bodyPr wrap="square">
            <a:spAutoFit/>
          </a:bodyPr>
          <a:lstStyle/>
          <a:p>
            <a:pPr algn="l">
              <a:spcAft>
                <a:spcPts val="0"/>
              </a:spcAft>
            </a:pPr>
            <a:r>
              <a:rPr sz="1500" b="1">
                <a:solidFill>
                  <a:srgbClr val="0F766E"/>
                </a:solidFill>
                <a:latin typeface="Calibri"/>
              </a:rPr>
              <a:t>Dentist</a:t>
            </a:r>
          </a:p>
        </p:txBody>
      </p:sp>
      <p:sp>
        <p:nvSpPr>
          <p:cNvPr id="11" name="TextBox 10"/>
          <p:cNvSpPr txBox="1"/>
          <p:nvPr/>
        </p:nvSpPr>
        <p:spPr>
          <a:xfrm>
            <a:off x="2743200" y="2313432"/>
            <a:ext cx="2194560" cy="365760"/>
          </a:xfrm>
          <a:prstGeom prst="rect">
            <a:avLst/>
          </a:prstGeom>
          <a:noFill/>
        </p:spPr>
        <p:txBody>
          <a:bodyPr wrap="square">
            <a:spAutoFit/>
          </a:bodyPr>
          <a:lstStyle/>
          <a:p>
            <a:pPr algn="l">
              <a:spcAft>
                <a:spcPts val="0"/>
              </a:spcAft>
            </a:pPr>
            <a:r>
              <a:rPr sz="1500" b="1">
                <a:solidFill>
                  <a:srgbClr val="1C1917"/>
                </a:solidFill>
                <a:latin typeface="Calibri"/>
              </a:rPr>
              <a:t>Both branches</a:t>
            </a:r>
          </a:p>
        </p:txBody>
      </p:sp>
      <p:sp>
        <p:nvSpPr>
          <p:cNvPr id="12" name="TextBox 11"/>
          <p:cNvSpPr txBox="1"/>
          <p:nvPr/>
        </p:nvSpPr>
        <p:spPr>
          <a:xfrm>
            <a:off x="5120640" y="2313432"/>
            <a:ext cx="6492240" cy="731520"/>
          </a:xfrm>
          <a:prstGeom prst="rect">
            <a:avLst/>
          </a:prstGeom>
          <a:noFill/>
        </p:spPr>
        <p:txBody>
          <a:bodyPr wrap="square">
            <a:spAutoFit/>
          </a:bodyPr>
          <a:lstStyle/>
          <a:p>
            <a:pPr algn="l">
              <a:spcAft>
                <a:spcPts val="0"/>
              </a:spcAft>
            </a:pPr>
            <a:r>
              <a:rPr sz="1250" b="0">
                <a:solidFill>
                  <a:srgbClr val="1C1917"/>
                </a:solidFill>
                <a:latin typeface="Calibri"/>
              </a:rPr>
              <a:t>Adds treatment recording and the side-by-side branch view.</a:t>
            </a:r>
          </a:p>
        </p:txBody>
      </p:sp>
      <p:sp>
        <p:nvSpPr>
          <p:cNvPr id="13" name="Rectangle 12"/>
          <p:cNvSpPr/>
          <p:nvPr/>
        </p:nvSpPr>
        <p:spPr>
          <a:xfrm>
            <a:off x="566928" y="3008376"/>
            <a:ext cx="11057839" cy="12700"/>
          </a:xfrm>
          <a:prstGeom prst="rect">
            <a:avLst/>
          </a:prstGeom>
          <a:solidFill>
            <a:srgbClr val="E7E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154680"/>
            <a:ext cx="1920240" cy="365760"/>
          </a:xfrm>
          <a:prstGeom prst="rect">
            <a:avLst/>
          </a:prstGeom>
          <a:noFill/>
        </p:spPr>
        <p:txBody>
          <a:bodyPr wrap="square">
            <a:spAutoFit/>
          </a:bodyPr>
          <a:lstStyle/>
          <a:p>
            <a:pPr algn="l">
              <a:spcAft>
                <a:spcPts val="0"/>
              </a:spcAft>
            </a:pPr>
            <a:r>
              <a:rPr sz="1500" b="1">
                <a:solidFill>
                  <a:srgbClr val="0F766E"/>
                </a:solidFill>
                <a:latin typeface="Calibri"/>
              </a:rPr>
              <a:t>Admin</a:t>
            </a:r>
          </a:p>
        </p:txBody>
      </p:sp>
      <p:sp>
        <p:nvSpPr>
          <p:cNvPr id="15" name="TextBox 14"/>
          <p:cNvSpPr txBox="1"/>
          <p:nvPr/>
        </p:nvSpPr>
        <p:spPr>
          <a:xfrm>
            <a:off x="2743200" y="3154680"/>
            <a:ext cx="2194560" cy="365760"/>
          </a:xfrm>
          <a:prstGeom prst="rect">
            <a:avLst/>
          </a:prstGeom>
          <a:noFill/>
        </p:spPr>
        <p:txBody>
          <a:bodyPr wrap="square">
            <a:spAutoFit/>
          </a:bodyPr>
          <a:lstStyle/>
          <a:p>
            <a:pPr algn="l">
              <a:spcAft>
                <a:spcPts val="0"/>
              </a:spcAft>
            </a:pPr>
            <a:r>
              <a:rPr sz="1500" b="1">
                <a:solidFill>
                  <a:srgbClr val="1C1917"/>
                </a:solidFill>
                <a:latin typeface="Calibri"/>
              </a:rPr>
              <a:t>Both branches</a:t>
            </a:r>
          </a:p>
        </p:txBody>
      </p:sp>
      <p:sp>
        <p:nvSpPr>
          <p:cNvPr id="16" name="TextBox 15"/>
          <p:cNvSpPr txBox="1"/>
          <p:nvPr/>
        </p:nvSpPr>
        <p:spPr>
          <a:xfrm>
            <a:off x="5120640" y="3154680"/>
            <a:ext cx="6492240" cy="731520"/>
          </a:xfrm>
          <a:prstGeom prst="rect">
            <a:avLst/>
          </a:prstGeom>
          <a:noFill/>
        </p:spPr>
        <p:txBody>
          <a:bodyPr wrap="square">
            <a:spAutoFit/>
          </a:bodyPr>
          <a:lstStyle/>
          <a:p>
            <a:pPr algn="l">
              <a:spcAft>
                <a:spcPts val="0"/>
              </a:spcAft>
            </a:pPr>
            <a:r>
              <a:rPr sz="1250" b="0">
                <a:solidFill>
                  <a:srgbClr val="1C1917"/>
                </a:solidFill>
                <a:latin typeface="Calibri"/>
              </a:rPr>
              <a:t>Adds staff accounts, audit log and backups.</a:t>
            </a:r>
          </a:p>
        </p:txBody>
      </p:sp>
      <p:sp>
        <p:nvSpPr>
          <p:cNvPr id="17" name="Rectangle 16"/>
          <p:cNvSpPr/>
          <p:nvPr/>
        </p:nvSpPr>
        <p:spPr>
          <a:xfrm>
            <a:off x="566928" y="3849624"/>
            <a:ext cx="11057839" cy="12700"/>
          </a:xfrm>
          <a:prstGeom prst="rect">
            <a:avLst/>
          </a:prstGeom>
          <a:solidFill>
            <a:srgbClr val="E7E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4123944"/>
            <a:ext cx="11057839" cy="1371600"/>
          </a:xfrm>
          <a:prstGeom prst="rect">
            <a:avLst/>
          </a:prstGeom>
          <a:solidFill>
            <a:srgbClr val="FEF3C7"/>
          </a:solidFill>
          <a:ln>
            <a:solidFill>
              <a:srgbClr val="FCD34D"/>
            </a:solidFill>
          </a:ln>
        </p:spPr>
        <p:txBody>
          <a:bodyPr wrap="square" lIns="128016" rIns="128016" tIns="91440">
            <a:spAutoFit/>
          </a:bodyPr>
          <a:lstStyle/>
          <a:p>
            <a:r>
              <a:rPr sz="1150">
                <a:solidFill>
                  <a:srgbClr val="78350F"/>
                </a:solidFill>
                <a:latin typeface="Calibri"/>
              </a:rPr>
              <a:t>One deliberate exception: a secretary may open a patient registered at the other branch once that patient has an appointment at theirs. Without it, a visitor from the other site could never be checked in — the first cross-branch visit of the day is exactly when the desk needs the record. An unassigned secretary is granted no branch access, not all of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566928" y="310896"/>
            <a:ext cx="8595360" cy="457200"/>
          </a:xfrm>
          <a:prstGeom prst="rect">
            <a:avLst/>
          </a:prstGeom>
          <a:noFill/>
        </p:spPr>
        <p:txBody>
          <a:bodyPr wrap="square">
            <a:spAutoFit/>
          </a:bodyPr>
          <a:lstStyle/>
          <a:p>
            <a:pPr algn="l">
              <a:spcAft>
                <a:spcPts val="0"/>
              </a:spcAft>
            </a:pPr>
            <a:r>
              <a:rPr sz="2400" b="1">
                <a:solidFill>
                  <a:srgbClr val="1C1917"/>
                </a:solidFill>
                <a:latin typeface="Calibri"/>
              </a:rPr>
              <a:t>Charting: tap the tooth, don't code it</a:t>
            </a:r>
          </a:p>
        </p:txBody>
      </p:sp>
      <p:sp>
        <p:nvSpPr>
          <p:cNvPr id="3" name="Rectangle 2"/>
          <p:cNvSpPr/>
          <p:nvPr/>
        </p:nvSpPr>
        <p:spPr>
          <a:xfrm>
            <a:off x="566928" y="841248"/>
            <a:ext cx="11057839" cy="254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382512"/>
            <a:ext cx="3657600" cy="274320"/>
          </a:xfrm>
          <a:prstGeom prst="rect">
            <a:avLst/>
          </a:prstGeom>
          <a:noFill/>
        </p:spPr>
        <p:txBody>
          <a:bodyPr wrap="square">
            <a:spAutoFit/>
          </a:bodyPr>
          <a:lstStyle/>
          <a:p>
            <a:pPr algn="l">
              <a:spcAft>
                <a:spcPts val="0"/>
              </a:spcAft>
            </a:pPr>
            <a:r>
              <a:rPr sz="900" b="0">
                <a:solidFill>
                  <a:srgbClr val="78716C"/>
                </a:solidFill>
                <a:latin typeface="Calibri"/>
              </a:rPr>
              <a:t>Gonzaga Dental Clinic · 04 / 27</a:t>
            </a:r>
          </a:p>
        </p:txBody>
      </p:sp>
      <p:pic>
        <p:nvPicPr>
          <p:cNvPr id="5" name="Picture 4" descr="07-patient-treatments.png"/>
          <p:cNvPicPr>
            <a:picLocks noChangeAspect="1"/>
          </p:cNvPicPr>
          <p:nvPr/>
        </p:nvPicPr>
        <p:blipFill>
          <a:blip r:embed="rId2"/>
          <a:stretch>
            <a:fillRect/>
          </a:stretch>
        </p:blipFill>
        <p:spPr>
          <a:xfrm>
            <a:off x="1063283" y="1188720"/>
            <a:ext cx="4493690" cy="4846320"/>
          </a:xfrm>
          <a:prstGeom prst="rect">
            <a:avLst/>
          </a:prstGeom>
        </p:spPr>
      </p:pic>
      <p:sp>
        <p:nvSpPr>
          <p:cNvPr id="6" name="TextBox 5"/>
          <p:cNvSpPr txBox="1"/>
          <p:nvPr/>
        </p:nvSpPr>
        <p:spPr>
          <a:xfrm>
            <a:off x="6309360" y="1325880"/>
            <a:ext cx="5303520" cy="4023360"/>
          </a:xfrm>
          <a:prstGeom prst="rect">
            <a:avLst/>
          </a:prstGeom>
          <a:noFill/>
        </p:spPr>
        <p:txBody>
          <a:bodyPr wrap="square">
            <a:spAutoFit/>
          </a:bodyPr>
          <a:lstStyle/>
          <a:p>
            <a:pPr>
              <a:spcAft>
                <a:spcPts val="900"/>
              </a:spcAft>
            </a:pPr>
            <a:r>
              <a:rPr sz="1250">
                <a:solidFill>
                  <a:srgbClr val="1C1917"/>
                </a:solidFill>
                <a:latin typeface="Calibri"/>
              </a:rPr>
              <a:t>•  Charting was a free-text field asking for an FDI code. A dentist identifies a tooth by where it sits, so a two-digit code is the slowest and most error-prone way to record one — and a wrong tooth is clinical data, not a typo.</a:t>
            </a:r>
          </a:p>
          <a:p>
            <a:pPr>
              <a:spcAft>
                <a:spcPts val="900"/>
              </a:spcAft>
            </a:pPr>
            <a:r>
              <a:rPr sz="1250">
                <a:solidFill>
                  <a:srgbClr val="1C1917"/>
                </a:solidFill>
                <a:latin typeface="Calibri"/>
              </a:rPr>
              <a:t>•  The chart is now interactive: tap to select, tap again to remove.</a:t>
            </a:r>
          </a:p>
          <a:p>
            <a:pPr>
              <a:spcAft>
                <a:spcPts val="900"/>
              </a:spcAft>
            </a:pPr>
            <a:r>
              <a:rPr sz="1250">
                <a:solidFill>
                  <a:srgbClr val="1C1917"/>
                </a:solidFill>
                <a:latin typeface="Calibri"/>
              </a:rPr>
              <a:t>•  Teeth already treated are shaded with their procedure count, so prior work is visible while charting rather than afterwards.</a:t>
            </a:r>
          </a:p>
          <a:p>
            <a:pPr>
              <a:spcAft>
                <a:spcPts val="900"/>
              </a:spcAft>
            </a:pPr>
            <a:r>
              <a:rPr sz="1250">
                <a:solidFill>
                  <a:srgbClr val="1C1917"/>
                </a:solidFill>
                <a:latin typeface="Calibri"/>
              </a:rPr>
              <a:t>•  The chart and the text box are two views of one value, so a tapped tooth and a typed range can never disagree about what is saved.</a:t>
            </a:r>
          </a:p>
          <a:p>
            <a:pPr>
              <a:spcAft>
                <a:spcPts val="900"/>
              </a:spcAft>
            </a:pPr>
            <a:r>
              <a:rPr sz="1250">
                <a:solidFill>
                  <a:srgbClr val="1C1917"/>
                </a:solidFill>
                <a:latin typeface="Calibri"/>
              </a:rPr>
              <a:t>•  Touch targets are 44x44 px, meeting the platform minimum rather than the 40 px that was being missed.</a:t>
            </a:r>
          </a:p>
        </p:txBody>
      </p:sp>
      <p:sp>
        <p:nvSpPr>
          <p:cNvPr id="7" name="TextBox 6"/>
          <p:cNvSpPr txBox="1"/>
          <p:nvPr/>
        </p:nvSpPr>
        <p:spPr>
          <a:xfrm>
            <a:off x="6309360" y="5074920"/>
            <a:ext cx="5303520" cy="868680"/>
          </a:xfrm>
          <a:prstGeom prst="rect">
            <a:avLst/>
          </a:prstGeom>
          <a:solidFill>
            <a:srgbClr val="FEF3C7"/>
          </a:solidFill>
          <a:ln>
            <a:solidFill>
              <a:srgbClr val="FCD34D"/>
            </a:solidFill>
          </a:ln>
        </p:spPr>
        <p:txBody>
          <a:bodyPr wrap="square" lIns="128016" rIns="128016" tIns="91440">
            <a:spAutoFit/>
          </a:bodyPr>
          <a:lstStyle/>
          <a:p>
            <a:r>
              <a:rPr sz="1150">
                <a:solidFill>
                  <a:srgbClr val="78350F"/>
                </a:solidFill>
                <a:latin typeface="Calibri"/>
              </a:rPr>
              <a:t>Tap targets cannot express a range like 11-18, so typing still works and stays in sync with the chart.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566928" y="310896"/>
            <a:ext cx="8595360" cy="457200"/>
          </a:xfrm>
          <a:prstGeom prst="rect">
            <a:avLst/>
          </a:prstGeom>
          <a:noFill/>
        </p:spPr>
        <p:txBody>
          <a:bodyPr wrap="square">
            <a:spAutoFit/>
          </a:bodyPr>
          <a:lstStyle/>
          <a:p>
            <a:pPr algn="l">
              <a:spcAft>
                <a:spcPts val="0"/>
              </a:spcAft>
            </a:pPr>
            <a:r>
              <a:rPr sz="2400" b="1">
                <a:solidFill>
                  <a:srgbClr val="1C1917"/>
                </a:solidFill>
                <a:latin typeface="Calibri"/>
              </a:rPr>
              <a:t>The waiting room: one tap, not a dropdown</a:t>
            </a:r>
          </a:p>
        </p:txBody>
      </p:sp>
      <p:sp>
        <p:nvSpPr>
          <p:cNvPr id="3" name="Rectangle 2"/>
          <p:cNvSpPr/>
          <p:nvPr/>
        </p:nvSpPr>
        <p:spPr>
          <a:xfrm>
            <a:off x="566928" y="841248"/>
            <a:ext cx="11057839" cy="254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382512"/>
            <a:ext cx="3657600" cy="274320"/>
          </a:xfrm>
          <a:prstGeom prst="rect">
            <a:avLst/>
          </a:prstGeom>
          <a:noFill/>
        </p:spPr>
        <p:txBody>
          <a:bodyPr wrap="square">
            <a:spAutoFit/>
          </a:bodyPr>
          <a:lstStyle/>
          <a:p>
            <a:pPr algn="l">
              <a:spcAft>
                <a:spcPts val="0"/>
              </a:spcAft>
            </a:pPr>
            <a:r>
              <a:rPr sz="900" b="0">
                <a:solidFill>
                  <a:srgbClr val="78716C"/>
                </a:solidFill>
                <a:latin typeface="Calibri"/>
              </a:rPr>
              <a:t>Gonzaga Dental Clinic · 05 / 27</a:t>
            </a:r>
          </a:p>
        </p:txBody>
      </p:sp>
      <p:pic>
        <p:nvPicPr>
          <p:cNvPr id="5" name="Picture 4" descr="12-appointments.png"/>
          <p:cNvPicPr>
            <a:picLocks noChangeAspect="1"/>
          </p:cNvPicPr>
          <p:nvPr/>
        </p:nvPicPr>
        <p:blipFill>
          <a:blip r:embed="rId2"/>
          <a:stretch>
            <a:fillRect/>
          </a:stretch>
        </p:blipFill>
        <p:spPr>
          <a:xfrm>
            <a:off x="566928" y="1188720"/>
            <a:ext cx="5486400" cy="4572000"/>
          </a:xfrm>
          <a:prstGeom prst="rect">
            <a:avLst/>
          </a:prstGeom>
        </p:spPr>
      </p:pic>
      <p:sp>
        <p:nvSpPr>
          <p:cNvPr id="6" name="TextBox 5"/>
          <p:cNvSpPr txBox="1"/>
          <p:nvPr/>
        </p:nvSpPr>
        <p:spPr>
          <a:xfrm>
            <a:off x="6309360" y="1325880"/>
            <a:ext cx="5303520" cy="4023360"/>
          </a:xfrm>
          <a:prstGeom prst="rect">
            <a:avLst/>
          </a:prstGeom>
          <a:noFill/>
        </p:spPr>
        <p:txBody>
          <a:bodyPr wrap="square">
            <a:spAutoFit/>
          </a:bodyPr>
          <a:lstStyle/>
          <a:p>
            <a:pPr>
              <a:spcAft>
                <a:spcPts val="900"/>
              </a:spcAft>
            </a:pPr>
            <a:r>
              <a:rPr sz="1250">
                <a:solidFill>
                  <a:srgbClr val="1C1917"/>
                </a:solidFill>
                <a:latin typeface="Calibri"/>
              </a:rPr>
              <a:t>•  The day list opens with how many patients are still to be seen, so progress is readable without counting rows.</a:t>
            </a:r>
          </a:p>
          <a:p>
            <a:pPr>
              <a:spcAft>
                <a:spcPts val="900"/>
              </a:spcAft>
            </a:pPr>
            <a:r>
              <a:rPr sz="1250">
                <a:solidFill>
                  <a:srgbClr val="1C1917"/>
                </a:solidFill>
                <a:latin typeface="Calibri"/>
              </a:rPr>
              <a:t>•  Check in, then complete — the transition repeated all morning — is a single labelled button on each row. Anything else stays under 'More'.</a:t>
            </a:r>
          </a:p>
          <a:p>
            <a:pPr>
              <a:spcAft>
                <a:spcPts val="900"/>
              </a:spcAft>
            </a:pPr>
            <a:r>
              <a:rPr sz="1250">
                <a:solidFill>
                  <a:srgbClr val="1C1917"/>
                </a:solidFill>
                <a:latin typeface="Calibri"/>
              </a:rPr>
              <a:t>•  The buttons are labelled the way staff speak. The row says 'Check in', not 'confirmed'.</a:t>
            </a:r>
          </a:p>
          <a:p>
            <a:pPr>
              <a:spcAft>
                <a:spcPts val="900"/>
              </a:spcAft>
            </a:pPr>
            <a:r>
              <a:rPr sz="1250">
                <a:solidFill>
                  <a:srgbClr val="1C1917"/>
                </a:solidFill>
                <a:latin typeface="Calibri"/>
              </a:rPr>
              <a:t>•  Only the row being saved is disabled while it saves. A single global flag meant one slow request froze every row's controls.</a:t>
            </a:r>
          </a:p>
          <a:p>
            <a:pPr>
              <a:spcAft>
                <a:spcPts val="900"/>
              </a:spcAft>
            </a:pPr>
            <a:r>
              <a:rPr sz="1250">
                <a:solidFill>
                  <a:srgbClr val="1C1917"/>
                </a:solidFill>
                <a:latin typeface="Calibri"/>
              </a:rPr>
              <a:t>•  Status changes are announced to screen readers, so the outcome is not visual-only.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566928" y="310896"/>
            <a:ext cx="8595360" cy="457200"/>
          </a:xfrm>
          <a:prstGeom prst="rect">
            <a:avLst/>
          </a:prstGeom>
          <a:noFill/>
        </p:spPr>
        <p:txBody>
          <a:bodyPr wrap="square">
            <a:spAutoFit/>
          </a:bodyPr>
          <a:lstStyle/>
          <a:p>
            <a:pPr algn="l">
              <a:spcAft>
                <a:spcPts val="0"/>
              </a:spcAft>
            </a:pPr>
            <a:r>
              <a:rPr sz="2400" b="1">
                <a:solidFill>
                  <a:srgbClr val="1C1917"/>
                </a:solidFill>
                <a:latin typeface="Calibri"/>
              </a:rPr>
              <a:t>Bugs found while making it usable</a:t>
            </a:r>
          </a:p>
        </p:txBody>
      </p:sp>
      <p:sp>
        <p:nvSpPr>
          <p:cNvPr id="3" name="Rectangle 2"/>
          <p:cNvSpPr/>
          <p:nvPr/>
        </p:nvSpPr>
        <p:spPr>
          <a:xfrm>
            <a:off x="566928" y="841248"/>
            <a:ext cx="11057839" cy="254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382512"/>
            <a:ext cx="3657600" cy="274320"/>
          </a:xfrm>
          <a:prstGeom prst="rect">
            <a:avLst/>
          </a:prstGeom>
          <a:noFill/>
        </p:spPr>
        <p:txBody>
          <a:bodyPr wrap="square">
            <a:spAutoFit/>
          </a:bodyPr>
          <a:lstStyle/>
          <a:p>
            <a:pPr algn="l">
              <a:spcAft>
                <a:spcPts val="0"/>
              </a:spcAft>
            </a:pPr>
            <a:r>
              <a:rPr sz="900" b="0">
                <a:solidFill>
                  <a:srgbClr val="78716C"/>
                </a:solidFill>
                <a:latin typeface="Calibri"/>
              </a:rPr>
              <a:t>Gonzaga Dental Clinic · 06 / 27</a:t>
            </a:r>
          </a:p>
        </p:txBody>
      </p:sp>
      <p:sp>
        <p:nvSpPr>
          <p:cNvPr id="5" name="TextBox 4"/>
          <p:cNvSpPr txBox="1"/>
          <p:nvPr/>
        </p:nvSpPr>
        <p:spPr>
          <a:xfrm>
            <a:off x="566928" y="1234440"/>
            <a:ext cx="11064240" cy="4754880"/>
          </a:xfrm>
          <a:prstGeom prst="rect">
            <a:avLst/>
          </a:prstGeom>
          <a:noFill/>
        </p:spPr>
        <p:txBody>
          <a:bodyPr wrap="square">
            <a:spAutoFit/>
          </a:bodyPr>
          <a:lstStyle/>
          <a:p>
            <a:pPr>
              <a:spcAft>
                <a:spcPts val="900"/>
              </a:spcAft>
            </a:pPr>
            <a:r>
              <a:rPr sz="1400">
                <a:solidFill>
                  <a:srgbClr val="1C1917"/>
                </a:solidFill>
                <a:latin typeface="Calibri"/>
              </a:rPr>
              <a:t>•  Mobile overflow on every page. Responsive grids declared no base single column, so below the breakpoint the implicit column sized to its widest content and pushed the page into horizontal scroll. Fixed across 17 grids; verified at five widths.</a:t>
            </a:r>
          </a:p>
          <a:p>
            <a:pPr>
              <a:spcAft>
                <a:spcPts val="900"/>
              </a:spcAft>
            </a:pPr>
            <a:r>
              <a:rPr sz="1400">
                <a:solidFill>
                  <a:srgbClr val="1C1917"/>
                </a:solidFill>
                <a:latin typeface="Calibri"/>
              </a:rPr>
              <a:t>•  Treatment dates defaulted to the wrong day. The form used the server's UTC date, so between midnight and 8am Manila a treatment would default to yesterday.</a:t>
            </a:r>
          </a:p>
          <a:p>
            <a:pPr>
              <a:spcAft>
                <a:spcPts val="900"/>
              </a:spcAft>
            </a:pPr>
            <a:r>
              <a:rPr sz="1400">
                <a:solidFill>
                  <a:srgbClr val="1C1917"/>
                </a:solidFill>
                <a:latin typeface="Calibri"/>
              </a:rPr>
              <a:t>•  The 'secretary' preview persona never existed. The role fell through a conditional to 'dentist', so the entire secretary interface could not be reviewed despite being documented.</a:t>
            </a:r>
          </a:p>
          <a:p>
            <a:pPr>
              <a:spcAft>
                <a:spcPts val="900"/>
              </a:spcAft>
            </a:pPr>
            <a:r>
              <a:rPr sz="1400">
                <a:solidFill>
                  <a:srgbClr val="1C1917"/>
                </a:solidFill>
                <a:latin typeface="Calibri"/>
              </a:rPr>
              <a:t>•  Preview contradicted its own security model. The fabricated data ignored branch scoping, so a secretary persona saw every patient in the clinic while the sidebar insisted they saw one branch.</a:t>
            </a:r>
          </a:p>
          <a:p>
            <a:pPr>
              <a:spcAft>
                <a:spcPts val="900"/>
              </a:spcAft>
            </a:pPr>
            <a:r>
              <a:rPr sz="1400">
                <a:solidFill>
                  <a:srgbClr val="1C1917"/>
                </a:solidFill>
                <a:latin typeface="Calibri"/>
              </a:rPr>
              <a:t>•  A secondary button class used by several screens did not exist in the stylesheet.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566928" y="310896"/>
            <a:ext cx="8595360" cy="457200"/>
          </a:xfrm>
          <a:prstGeom prst="rect">
            <a:avLst/>
          </a:prstGeom>
          <a:noFill/>
        </p:spPr>
        <p:txBody>
          <a:bodyPr wrap="square">
            <a:spAutoFit/>
          </a:bodyPr>
          <a:lstStyle/>
          <a:p>
            <a:pPr algn="l">
              <a:spcAft>
                <a:spcPts val="0"/>
              </a:spcAft>
            </a:pPr>
            <a:r>
              <a:rPr sz="2400" b="1">
                <a:solidFill>
                  <a:srgbClr val="1C1917"/>
                </a:solidFill>
                <a:latin typeface="Calibri"/>
              </a:rPr>
              <a:t>Sign in</a:t>
            </a:r>
          </a:p>
        </p:txBody>
      </p:sp>
      <p:sp>
        <p:nvSpPr>
          <p:cNvPr id="3" name="TextBox 2"/>
          <p:cNvSpPr txBox="1"/>
          <p:nvPr/>
        </p:nvSpPr>
        <p:spPr>
          <a:xfrm>
            <a:off x="9521647" y="384048"/>
            <a:ext cx="2103120" cy="274320"/>
          </a:xfrm>
          <a:prstGeom prst="rect">
            <a:avLst/>
          </a:prstGeom>
          <a:noFill/>
        </p:spPr>
        <p:txBody>
          <a:bodyPr wrap="none">
            <a:spAutoFit/>
          </a:bodyPr>
          <a:lstStyle/>
          <a:p>
            <a:pPr algn="r"/>
            <a:r>
              <a:rPr sz="950" b="1">
                <a:solidFill>
                  <a:srgbClr val="78716C"/>
                </a:solidFill>
                <a:latin typeface="Calibri"/>
              </a:rPr>
              <a:t>PUBLIC</a:t>
            </a:r>
          </a:p>
        </p:txBody>
      </p:sp>
      <p:sp>
        <p:nvSpPr>
          <p:cNvPr id="4" name="Rectangle 3"/>
          <p:cNvSpPr/>
          <p:nvPr/>
        </p:nvSpPr>
        <p:spPr>
          <a:xfrm>
            <a:off x="566928" y="841248"/>
            <a:ext cx="11057839" cy="254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382512"/>
            <a:ext cx="3657600" cy="274320"/>
          </a:xfrm>
          <a:prstGeom prst="rect">
            <a:avLst/>
          </a:prstGeom>
          <a:noFill/>
        </p:spPr>
        <p:txBody>
          <a:bodyPr wrap="square">
            <a:spAutoFit/>
          </a:bodyPr>
          <a:lstStyle/>
          <a:p>
            <a:pPr algn="l">
              <a:spcAft>
                <a:spcPts val="0"/>
              </a:spcAft>
            </a:pPr>
            <a:r>
              <a:rPr sz="900" b="0">
                <a:solidFill>
                  <a:srgbClr val="78716C"/>
                </a:solidFill>
                <a:latin typeface="Calibri"/>
              </a:rPr>
              <a:t>Gonzaga Dental Clinic · 07 / 27</a:t>
            </a:r>
          </a:p>
        </p:txBody>
      </p:sp>
      <p:pic>
        <p:nvPicPr>
          <p:cNvPr id="6" name="Picture 5" descr="01-sign-in.png"/>
          <p:cNvPicPr>
            <a:picLocks noChangeAspect="1"/>
          </p:cNvPicPr>
          <p:nvPr/>
        </p:nvPicPr>
        <p:blipFill>
          <a:blip r:embed="rId2"/>
          <a:stretch>
            <a:fillRect/>
          </a:stretch>
        </p:blipFill>
        <p:spPr>
          <a:xfrm>
            <a:off x="566928" y="1115568"/>
            <a:ext cx="5806440" cy="4082653"/>
          </a:xfrm>
          <a:prstGeom prst="rect">
            <a:avLst/>
          </a:prstGeom>
        </p:spPr>
      </p:pic>
      <p:sp>
        <p:nvSpPr>
          <p:cNvPr id="7" name="TextBox 6"/>
          <p:cNvSpPr txBox="1"/>
          <p:nvPr/>
        </p:nvSpPr>
        <p:spPr>
          <a:xfrm>
            <a:off x="6629400" y="1143000"/>
            <a:ext cx="5029200" cy="640080"/>
          </a:xfrm>
          <a:prstGeom prst="rect">
            <a:avLst/>
          </a:prstGeom>
          <a:noFill/>
        </p:spPr>
        <p:txBody>
          <a:bodyPr wrap="square">
            <a:spAutoFit/>
          </a:bodyPr>
          <a:lstStyle/>
          <a:p>
            <a:pPr algn="l">
              <a:spcAft>
                <a:spcPts val="0"/>
              </a:spcAft>
            </a:pPr>
            <a:r>
              <a:rPr sz="1250" b="0">
                <a:solidFill>
                  <a:srgbClr val="78716C"/>
                </a:solidFill>
                <a:latin typeface="Calibri"/>
              </a:rPr>
              <a:t>The only page reachable without a session.</a:t>
            </a:r>
          </a:p>
        </p:txBody>
      </p:sp>
      <p:sp>
        <p:nvSpPr>
          <p:cNvPr id="8" name="TextBox 7"/>
          <p:cNvSpPr txBox="1"/>
          <p:nvPr/>
        </p:nvSpPr>
        <p:spPr>
          <a:xfrm>
            <a:off x="6629400" y="1783080"/>
            <a:ext cx="5029200" cy="4206240"/>
          </a:xfrm>
          <a:prstGeom prst="rect">
            <a:avLst/>
          </a:prstGeom>
          <a:noFill/>
        </p:spPr>
        <p:txBody>
          <a:bodyPr wrap="square">
            <a:spAutoFit/>
          </a:bodyPr>
          <a:lstStyle/>
          <a:p>
            <a:pPr>
              <a:spcAft>
                <a:spcPts val="900"/>
              </a:spcAft>
            </a:pPr>
            <a:r>
              <a:rPr sz="1150">
                <a:solidFill>
                  <a:srgbClr val="1C1917"/>
                </a:solidFill>
                <a:latin typeface="Calibri"/>
              </a:rPr>
              <a:t>•  Email and password only. There is no patient login, because patients are records, not accounts.</a:t>
            </a:r>
          </a:p>
          <a:p>
            <a:pPr>
              <a:spcAft>
                <a:spcPts val="900"/>
              </a:spcAft>
            </a:pPr>
            <a:r>
              <a:rPr sz="1150">
                <a:solidFill>
                  <a:srgbClr val="1C1917"/>
                </a:solidFill>
                <a:latin typeface="Calibri"/>
              </a:rPr>
              <a:t>•  A valid password is not enough: the server layout re-checks that the staff row is still active, so a deactivated account cannot reach the app even with a valid password.</a:t>
            </a:r>
          </a:p>
          <a:p>
            <a:pPr>
              <a:spcAft>
                <a:spcPts val="900"/>
              </a:spcAft>
            </a:pPr>
            <a:r>
              <a:rPr sz="1150">
                <a:solidFill>
                  <a:srgbClr val="1C1917"/>
                </a:solidFill>
                <a:latin typeface="Calibri"/>
              </a:rPr>
              <a:t>•  The 'next' parameter is validated so it can only be a local path, closing off open-redirect abuse.</a:t>
            </a:r>
          </a:p>
          <a:p>
            <a:pPr>
              <a:spcAft>
                <a:spcPts val="900"/>
              </a:spcAft>
            </a:pPr>
            <a:r>
              <a:rPr sz="1150">
                <a:solidFill>
                  <a:srgbClr val="1C1917"/>
                </a:solidFill>
                <a:latin typeface="Calibri"/>
              </a:rPr>
              <a:t>•  Error text is deliberately vague. It never reveals whether an email has an account, which would leak staff existence to an attacker.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566928" y="310896"/>
            <a:ext cx="8595360" cy="457200"/>
          </a:xfrm>
          <a:prstGeom prst="rect">
            <a:avLst/>
          </a:prstGeom>
          <a:noFill/>
        </p:spPr>
        <p:txBody>
          <a:bodyPr wrap="square">
            <a:spAutoFit/>
          </a:bodyPr>
          <a:lstStyle/>
          <a:p>
            <a:pPr algn="l">
              <a:spcAft>
                <a:spcPts val="0"/>
              </a:spcAft>
            </a:pPr>
            <a:r>
              <a:rPr sz="2400" b="1">
                <a:solidFill>
                  <a:srgbClr val="1C1917"/>
                </a:solidFill>
                <a:latin typeface="Calibri"/>
              </a:rPr>
              <a:t>Dashboard</a:t>
            </a:r>
          </a:p>
        </p:txBody>
      </p:sp>
      <p:sp>
        <p:nvSpPr>
          <p:cNvPr id="3" name="TextBox 2"/>
          <p:cNvSpPr txBox="1"/>
          <p:nvPr/>
        </p:nvSpPr>
        <p:spPr>
          <a:xfrm>
            <a:off x="9521647" y="384048"/>
            <a:ext cx="2103120" cy="274320"/>
          </a:xfrm>
          <a:prstGeom prst="rect">
            <a:avLst/>
          </a:prstGeom>
          <a:noFill/>
        </p:spPr>
        <p:txBody>
          <a:bodyPr wrap="none">
            <a:spAutoFit/>
          </a:bodyPr>
          <a:lstStyle/>
          <a:p>
            <a:pPr algn="r"/>
            <a:r>
              <a:rPr sz="950" b="1">
                <a:solidFill>
                  <a:srgbClr val="78716C"/>
                </a:solidFill>
                <a:latin typeface="Calibri"/>
              </a:rPr>
              <a:t>ALL STAFF</a:t>
            </a:r>
          </a:p>
        </p:txBody>
      </p:sp>
      <p:sp>
        <p:nvSpPr>
          <p:cNvPr id="4" name="Rectangle 3"/>
          <p:cNvSpPr/>
          <p:nvPr/>
        </p:nvSpPr>
        <p:spPr>
          <a:xfrm>
            <a:off x="566928" y="841248"/>
            <a:ext cx="11057839" cy="254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382512"/>
            <a:ext cx="3657600" cy="274320"/>
          </a:xfrm>
          <a:prstGeom prst="rect">
            <a:avLst/>
          </a:prstGeom>
          <a:noFill/>
        </p:spPr>
        <p:txBody>
          <a:bodyPr wrap="square">
            <a:spAutoFit/>
          </a:bodyPr>
          <a:lstStyle/>
          <a:p>
            <a:pPr algn="l">
              <a:spcAft>
                <a:spcPts val="0"/>
              </a:spcAft>
            </a:pPr>
            <a:r>
              <a:rPr sz="900" b="0">
                <a:solidFill>
                  <a:srgbClr val="78716C"/>
                </a:solidFill>
                <a:latin typeface="Calibri"/>
              </a:rPr>
              <a:t>Gonzaga Dental Clinic · 08 / 27</a:t>
            </a:r>
          </a:p>
        </p:txBody>
      </p:sp>
      <p:pic>
        <p:nvPicPr>
          <p:cNvPr id="6" name="Picture 5" descr="02-dashboard.png"/>
          <p:cNvPicPr>
            <a:picLocks noChangeAspect="1"/>
          </p:cNvPicPr>
          <p:nvPr/>
        </p:nvPicPr>
        <p:blipFill>
          <a:blip r:embed="rId2"/>
          <a:stretch>
            <a:fillRect/>
          </a:stretch>
        </p:blipFill>
        <p:spPr>
          <a:xfrm>
            <a:off x="566928" y="1115568"/>
            <a:ext cx="5806440" cy="4032250"/>
          </a:xfrm>
          <a:prstGeom prst="rect">
            <a:avLst/>
          </a:prstGeom>
        </p:spPr>
      </p:pic>
      <p:sp>
        <p:nvSpPr>
          <p:cNvPr id="7" name="TextBox 6"/>
          <p:cNvSpPr txBox="1"/>
          <p:nvPr/>
        </p:nvSpPr>
        <p:spPr>
          <a:xfrm>
            <a:off x="6629400" y="1143000"/>
            <a:ext cx="5029200" cy="640080"/>
          </a:xfrm>
          <a:prstGeom prst="rect">
            <a:avLst/>
          </a:prstGeom>
          <a:noFill/>
        </p:spPr>
        <p:txBody>
          <a:bodyPr wrap="square">
            <a:spAutoFit/>
          </a:bodyPr>
          <a:lstStyle/>
          <a:p>
            <a:pPr algn="l">
              <a:spcAft>
                <a:spcPts val="0"/>
              </a:spcAft>
            </a:pPr>
            <a:r>
              <a:rPr sz="1250" b="0">
                <a:solidFill>
                  <a:srgbClr val="78716C"/>
                </a:solidFill>
                <a:latin typeface="Calibri"/>
              </a:rPr>
              <a:t>The landing page after sign-in: what needs attention today.</a:t>
            </a:r>
          </a:p>
        </p:txBody>
      </p:sp>
      <p:sp>
        <p:nvSpPr>
          <p:cNvPr id="8" name="TextBox 7"/>
          <p:cNvSpPr txBox="1"/>
          <p:nvPr/>
        </p:nvSpPr>
        <p:spPr>
          <a:xfrm>
            <a:off x="6629400" y="1783080"/>
            <a:ext cx="5029200" cy="4206240"/>
          </a:xfrm>
          <a:prstGeom prst="rect">
            <a:avLst/>
          </a:prstGeom>
          <a:noFill/>
        </p:spPr>
        <p:txBody>
          <a:bodyPr wrap="square">
            <a:spAutoFit/>
          </a:bodyPr>
          <a:lstStyle/>
          <a:p>
            <a:pPr>
              <a:spcAft>
                <a:spcPts val="900"/>
              </a:spcAft>
            </a:pPr>
            <a:r>
              <a:rPr sz="1150">
                <a:solidFill>
                  <a:srgbClr val="1C1917"/>
                </a:solidFill>
                <a:latin typeface="Calibri"/>
              </a:rPr>
              <a:t>•  Today's appointment list first, because that is the question the secretary asks on arrival.</a:t>
            </a:r>
          </a:p>
          <a:p>
            <a:pPr>
              <a:spcAft>
                <a:spcPts val="900"/>
              </a:spcAft>
            </a:pPr>
            <a:r>
              <a:rPr sz="1150">
                <a:solidFill>
                  <a:srgbClr val="1C1917"/>
                </a:solidFill>
                <a:latin typeface="Calibri"/>
              </a:rPr>
              <a:t>•  Counts for patients, appointments and treatments give orientation without needing to open each list.</a:t>
            </a:r>
          </a:p>
          <a:p>
            <a:pPr>
              <a:spcAft>
                <a:spcPts val="900"/>
              </a:spcAft>
            </a:pPr>
            <a:r>
              <a:rPr sz="1150">
                <a:solidFill>
                  <a:srgbClr val="1C1917"/>
                </a:solidFill>
                <a:latin typeface="Calibri"/>
              </a:rPr>
              <a:t>•  Recent treatment entries surface cross-branch clinical activity.</a:t>
            </a:r>
          </a:p>
          <a:p>
            <a:pPr>
              <a:spcAft>
                <a:spcPts val="900"/>
              </a:spcAft>
            </a:pPr>
            <a:r>
              <a:rPr sz="1150">
                <a:solidFill>
                  <a:srgbClr val="1C1917"/>
                </a:solidFill>
                <a:latin typeface="Calibri"/>
              </a:rPr>
              <a:t>•  Times render in clinic time (Asia/Manila) regardless of the server's timezone.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566928" y="310896"/>
            <a:ext cx="8595360" cy="457200"/>
          </a:xfrm>
          <a:prstGeom prst="rect">
            <a:avLst/>
          </a:prstGeom>
          <a:noFill/>
        </p:spPr>
        <p:txBody>
          <a:bodyPr wrap="square">
            <a:spAutoFit/>
          </a:bodyPr>
          <a:lstStyle/>
          <a:p>
            <a:pPr algn="l">
              <a:spcAft>
                <a:spcPts val="0"/>
              </a:spcAft>
            </a:pPr>
            <a:r>
              <a:rPr sz="2400" b="1">
                <a:solidFill>
                  <a:srgbClr val="1C1917"/>
                </a:solidFill>
                <a:latin typeface="Calibri"/>
              </a:rPr>
              <a:t>Both branches</a:t>
            </a:r>
          </a:p>
        </p:txBody>
      </p:sp>
      <p:sp>
        <p:nvSpPr>
          <p:cNvPr id="3" name="TextBox 2"/>
          <p:cNvSpPr txBox="1"/>
          <p:nvPr/>
        </p:nvSpPr>
        <p:spPr>
          <a:xfrm>
            <a:off x="9521647" y="384048"/>
            <a:ext cx="2103120" cy="274320"/>
          </a:xfrm>
          <a:prstGeom prst="rect">
            <a:avLst/>
          </a:prstGeom>
          <a:noFill/>
        </p:spPr>
        <p:txBody>
          <a:bodyPr wrap="none">
            <a:spAutoFit/>
          </a:bodyPr>
          <a:lstStyle/>
          <a:p>
            <a:pPr algn="r"/>
            <a:r>
              <a:rPr sz="950" b="1">
                <a:solidFill>
                  <a:srgbClr val="78716C"/>
                </a:solidFill>
                <a:latin typeface="Calibri"/>
              </a:rPr>
              <a:t>DENTIST + ADMIN</a:t>
            </a:r>
          </a:p>
        </p:txBody>
      </p:sp>
      <p:sp>
        <p:nvSpPr>
          <p:cNvPr id="4" name="Rectangle 3"/>
          <p:cNvSpPr/>
          <p:nvPr/>
        </p:nvSpPr>
        <p:spPr>
          <a:xfrm>
            <a:off x="566928" y="841248"/>
            <a:ext cx="11057839" cy="254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382512"/>
            <a:ext cx="3657600" cy="274320"/>
          </a:xfrm>
          <a:prstGeom prst="rect">
            <a:avLst/>
          </a:prstGeom>
          <a:noFill/>
        </p:spPr>
        <p:txBody>
          <a:bodyPr wrap="square">
            <a:spAutoFit/>
          </a:bodyPr>
          <a:lstStyle/>
          <a:p>
            <a:pPr algn="l">
              <a:spcAft>
                <a:spcPts val="0"/>
              </a:spcAft>
            </a:pPr>
            <a:r>
              <a:rPr sz="900" b="0">
                <a:solidFill>
                  <a:srgbClr val="78716C"/>
                </a:solidFill>
                <a:latin typeface="Calibri"/>
              </a:rPr>
              <a:t>Gonzaga Dental Clinic · 09 / 27</a:t>
            </a:r>
          </a:p>
        </p:txBody>
      </p:sp>
      <p:pic>
        <p:nvPicPr>
          <p:cNvPr id="6" name="Picture 5" descr="03-branches.png"/>
          <p:cNvPicPr>
            <a:picLocks noChangeAspect="1"/>
          </p:cNvPicPr>
          <p:nvPr/>
        </p:nvPicPr>
        <p:blipFill>
          <a:blip r:embed="rId2"/>
          <a:stretch>
            <a:fillRect/>
          </a:stretch>
        </p:blipFill>
        <p:spPr>
          <a:xfrm>
            <a:off x="1330452" y="1115568"/>
            <a:ext cx="4279392" cy="4160520"/>
          </a:xfrm>
          <a:prstGeom prst="rect">
            <a:avLst/>
          </a:prstGeom>
        </p:spPr>
      </p:pic>
      <p:sp>
        <p:nvSpPr>
          <p:cNvPr id="7" name="TextBox 6"/>
          <p:cNvSpPr txBox="1"/>
          <p:nvPr/>
        </p:nvSpPr>
        <p:spPr>
          <a:xfrm>
            <a:off x="6629400" y="1143000"/>
            <a:ext cx="5029200" cy="640080"/>
          </a:xfrm>
          <a:prstGeom prst="rect">
            <a:avLst/>
          </a:prstGeom>
          <a:noFill/>
        </p:spPr>
        <p:txBody>
          <a:bodyPr wrap="square">
            <a:spAutoFit/>
          </a:bodyPr>
          <a:lstStyle/>
          <a:p>
            <a:pPr algn="l">
              <a:spcAft>
                <a:spcPts val="0"/>
              </a:spcAft>
            </a:pPr>
            <a:r>
              <a:rPr sz="1250" b="0">
                <a:solidFill>
                  <a:srgbClr val="78716C"/>
                </a:solidFill>
                <a:latin typeface="Calibri"/>
              </a:rPr>
              <a:t>The dentist's view of the clinic: two branches, side by side.</a:t>
            </a:r>
          </a:p>
        </p:txBody>
      </p:sp>
      <p:sp>
        <p:nvSpPr>
          <p:cNvPr id="8" name="TextBox 7"/>
          <p:cNvSpPr txBox="1"/>
          <p:nvPr/>
        </p:nvSpPr>
        <p:spPr>
          <a:xfrm>
            <a:off x="6629400" y="1783080"/>
            <a:ext cx="5029200" cy="4206240"/>
          </a:xfrm>
          <a:prstGeom prst="rect">
            <a:avLst/>
          </a:prstGeom>
          <a:noFill/>
        </p:spPr>
        <p:txBody>
          <a:bodyPr wrap="square">
            <a:spAutoFit/>
          </a:bodyPr>
          <a:lstStyle/>
          <a:p>
            <a:pPr>
              <a:spcAft>
                <a:spcPts val="900"/>
              </a:spcAft>
            </a:pPr>
            <a:r>
              <a:rPr sz="1150">
                <a:solidFill>
                  <a:srgbClr val="1C1917"/>
                </a:solidFill>
                <a:latin typeface="Calibri"/>
              </a:rPr>
              <a:t>•  Each branch gets its own block with its own figures. Merging them into one list would hide the thing that matters when you own two sites: whether one of them is behind.</a:t>
            </a:r>
          </a:p>
          <a:p>
            <a:pPr>
              <a:spcAft>
                <a:spcPts val="900"/>
              </a:spcAft>
            </a:pPr>
            <a:r>
              <a:rPr sz="1150">
                <a:solidFill>
                  <a:srgbClr val="1C1917"/>
                </a:solidFill>
                <a:latin typeface="Calibri"/>
              </a:rPr>
              <a:t>•  Per branch: active patients, appointments today, new registrations this week, and procedures recorded this week.</a:t>
            </a:r>
          </a:p>
          <a:p>
            <a:pPr>
              <a:spcAft>
                <a:spcPts val="900"/>
              </a:spcAft>
            </a:pPr>
            <a:r>
              <a:rPr sz="1150">
                <a:solidFill>
                  <a:srgbClr val="1C1917"/>
                </a:solidFill>
                <a:latin typeface="Calibri"/>
              </a:rPr>
              <a:t>•  Today's schedule is split by branch rather than interleaved, so the load at each site is visible at a glance.</a:t>
            </a:r>
          </a:p>
          <a:p>
            <a:pPr>
              <a:spcAft>
                <a:spcPts val="900"/>
              </a:spcAft>
            </a:pPr>
            <a:r>
              <a:rPr sz="1150">
                <a:solidFill>
                  <a:srgbClr val="1C1917"/>
                </a:solidFill>
                <a:latin typeface="Calibri"/>
              </a:rPr>
              <a:t>•  Open/closed status uses each branch's own hours, so a branch that has already closed reads differently from one still trading.</a:t>
            </a:r>
          </a:p>
          <a:p>
            <a:pPr>
              <a:spcAft>
                <a:spcPts val="900"/>
              </a:spcAft>
            </a:pPr>
            <a:r>
              <a:rPr sz="1150">
                <a:solidFill>
                  <a:srgbClr val="1C1917"/>
                </a:solidFill>
                <a:latin typeface="Calibri"/>
              </a:rPr>
              <a:t>•  Visible to dentists and admins. A secretary is scoped to a single branch by the database itself, so this comparison is not something they could reconstruct from the patient list.</a:t>
            </a:r>
          </a:p>
          <a:p>
            <a:pPr>
              <a:spcAft>
                <a:spcPts val="900"/>
              </a:spcAft>
            </a:pPr>
            <a:r>
              <a:rPr sz="1150">
                <a:solidFill>
                  <a:srgbClr val="1C1917"/>
                </a:solidFill>
                <a:latin typeface="Calibri"/>
              </a:rPr>
              <a:t>•  Reads on the phone as well, with the per-branch figures stacking into a single column.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566928" y="310896"/>
            <a:ext cx="8595360" cy="457200"/>
          </a:xfrm>
          <a:prstGeom prst="rect">
            <a:avLst/>
          </a:prstGeom>
          <a:noFill/>
        </p:spPr>
        <p:txBody>
          <a:bodyPr wrap="square">
            <a:spAutoFit/>
          </a:bodyPr>
          <a:lstStyle/>
          <a:p>
            <a:pPr algn="l">
              <a:spcAft>
                <a:spcPts val="0"/>
              </a:spcAft>
            </a:pPr>
            <a:r>
              <a:rPr sz="2400" b="1">
                <a:solidFill>
                  <a:srgbClr val="1C1917"/>
                </a:solidFill>
                <a:latin typeface="Calibri"/>
              </a:rPr>
              <a:t>Patient directory</a:t>
            </a:r>
          </a:p>
        </p:txBody>
      </p:sp>
      <p:sp>
        <p:nvSpPr>
          <p:cNvPr id="3" name="TextBox 2"/>
          <p:cNvSpPr txBox="1"/>
          <p:nvPr/>
        </p:nvSpPr>
        <p:spPr>
          <a:xfrm>
            <a:off x="9521647" y="384048"/>
            <a:ext cx="2103120" cy="274320"/>
          </a:xfrm>
          <a:prstGeom prst="rect">
            <a:avLst/>
          </a:prstGeom>
          <a:noFill/>
        </p:spPr>
        <p:txBody>
          <a:bodyPr wrap="none">
            <a:spAutoFit/>
          </a:bodyPr>
          <a:lstStyle/>
          <a:p>
            <a:pPr algn="r"/>
            <a:r>
              <a:rPr sz="950" b="1">
                <a:solidFill>
                  <a:srgbClr val="78716C"/>
                </a:solidFill>
                <a:latin typeface="Calibri"/>
              </a:rPr>
              <a:t>ALL STAFF</a:t>
            </a:r>
          </a:p>
        </p:txBody>
      </p:sp>
      <p:sp>
        <p:nvSpPr>
          <p:cNvPr id="4" name="Rectangle 3"/>
          <p:cNvSpPr/>
          <p:nvPr/>
        </p:nvSpPr>
        <p:spPr>
          <a:xfrm>
            <a:off x="566928" y="841248"/>
            <a:ext cx="11057839" cy="254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382512"/>
            <a:ext cx="3657600" cy="274320"/>
          </a:xfrm>
          <a:prstGeom prst="rect">
            <a:avLst/>
          </a:prstGeom>
          <a:noFill/>
        </p:spPr>
        <p:txBody>
          <a:bodyPr wrap="square">
            <a:spAutoFit/>
          </a:bodyPr>
          <a:lstStyle/>
          <a:p>
            <a:pPr algn="l">
              <a:spcAft>
                <a:spcPts val="0"/>
              </a:spcAft>
            </a:pPr>
            <a:r>
              <a:rPr sz="900" b="0">
                <a:solidFill>
                  <a:srgbClr val="78716C"/>
                </a:solidFill>
                <a:latin typeface="Calibri"/>
              </a:rPr>
              <a:t>Gonzaga Dental Clinic · 10 / 27</a:t>
            </a:r>
          </a:p>
        </p:txBody>
      </p:sp>
      <p:pic>
        <p:nvPicPr>
          <p:cNvPr id="6" name="Picture 5" descr="04-patients.png"/>
          <p:cNvPicPr>
            <a:picLocks noChangeAspect="1"/>
          </p:cNvPicPr>
          <p:nvPr/>
        </p:nvPicPr>
        <p:blipFill>
          <a:blip r:embed="rId2"/>
          <a:stretch>
            <a:fillRect/>
          </a:stretch>
        </p:blipFill>
        <p:spPr>
          <a:xfrm>
            <a:off x="566928" y="1115568"/>
            <a:ext cx="5806440" cy="4032250"/>
          </a:xfrm>
          <a:prstGeom prst="rect">
            <a:avLst/>
          </a:prstGeom>
        </p:spPr>
      </p:pic>
      <p:sp>
        <p:nvSpPr>
          <p:cNvPr id="7" name="TextBox 6"/>
          <p:cNvSpPr txBox="1"/>
          <p:nvPr/>
        </p:nvSpPr>
        <p:spPr>
          <a:xfrm>
            <a:off x="6629400" y="1143000"/>
            <a:ext cx="5029200" cy="640080"/>
          </a:xfrm>
          <a:prstGeom prst="rect">
            <a:avLst/>
          </a:prstGeom>
          <a:noFill/>
        </p:spPr>
        <p:txBody>
          <a:bodyPr wrap="square">
            <a:spAutoFit/>
          </a:bodyPr>
          <a:lstStyle/>
          <a:p>
            <a:pPr algn="l">
              <a:spcAft>
                <a:spcPts val="0"/>
              </a:spcAft>
            </a:pPr>
            <a:r>
              <a:rPr sz="1250" b="0">
                <a:solidFill>
                  <a:srgbClr val="78716C"/>
                </a:solidFill>
                <a:latin typeface="Calibri"/>
              </a:rPr>
              <a:t>Every patient, searchable, with the duplicate warning built in.</a:t>
            </a:r>
          </a:p>
        </p:txBody>
      </p:sp>
      <p:sp>
        <p:nvSpPr>
          <p:cNvPr id="8" name="TextBox 7"/>
          <p:cNvSpPr txBox="1"/>
          <p:nvPr/>
        </p:nvSpPr>
        <p:spPr>
          <a:xfrm>
            <a:off x="6629400" y="1783080"/>
            <a:ext cx="5029200" cy="4206240"/>
          </a:xfrm>
          <a:prstGeom prst="rect">
            <a:avLst/>
          </a:prstGeom>
          <a:noFill/>
        </p:spPr>
        <p:txBody>
          <a:bodyPr wrap="square">
            <a:spAutoFit/>
          </a:bodyPr>
          <a:lstStyle/>
          <a:p>
            <a:pPr>
              <a:spcAft>
                <a:spcPts val="900"/>
              </a:spcAft>
            </a:pPr>
            <a:r>
              <a:rPr sz="1150">
                <a:solidFill>
                  <a:srgbClr val="1C1917"/>
                </a:solidFill>
                <a:latin typeface="Calibri"/>
              </a:rPr>
              <a:t>•  Search filters from the URL, so a filtered view can be bookmarked or shared with a colleague.</a:t>
            </a:r>
          </a:p>
          <a:p>
            <a:pPr>
              <a:spcAft>
                <a:spcPts val="900"/>
              </a:spcAft>
            </a:pPr>
            <a:r>
              <a:rPr sz="1150">
                <a:solidFill>
                  <a:srgbClr val="1C1917"/>
                </a:solidFill>
                <a:latin typeface="Calibri"/>
              </a:rPr>
              <a:t>•  Patient number, name, age and branch are shown together because staff identify people by any of them.</a:t>
            </a:r>
          </a:p>
          <a:p>
            <a:pPr>
              <a:spcAft>
                <a:spcPts val="900"/>
              </a:spcAft>
            </a:pPr>
            <a:r>
              <a:rPr sz="1150">
                <a:solidFill>
                  <a:srgbClr val="1C1917"/>
                </a:solidFill>
                <a:latin typeface="Calibri"/>
              </a:rPr>
              <a:t>•  New registrations are checked against likely duplicates by name and birthdate. Similarity is surfaced for a human to judge, never auto-merged, because merging patient records is unsafe to automate.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566928" y="310896"/>
            <a:ext cx="8595360" cy="457200"/>
          </a:xfrm>
          <a:prstGeom prst="rect">
            <a:avLst/>
          </a:prstGeom>
          <a:noFill/>
        </p:spPr>
        <p:txBody>
          <a:bodyPr wrap="square">
            <a:spAutoFit/>
          </a:bodyPr>
          <a:lstStyle/>
          <a:p>
            <a:pPr algn="l">
              <a:spcAft>
                <a:spcPts val="0"/>
              </a:spcAft>
            </a:pPr>
            <a:r>
              <a:rPr sz="2400" b="1">
                <a:solidFill>
                  <a:srgbClr val="1C1917"/>
                </a:solidFill>
                <a:latin typeface="Calibri"/>
              </a:rPr>
              <a:t>Search results</a:t>
            </a:r>
          </a:p>
        </p:txBody>
      </p:sp>
      <p:sp>
        <p:nvSpPr>
          <p:cNvPr id="3" name="TextBox 2"/>
          <p:cNvSpPr txBox="1"/>
          <p:nvPr/>
        </p:nvSpPr>
        <p:spPr>
          <a:xfrm>
            <a:off x="9521647" y="384048"/>
            <a:ext cx="2103120" cy="274320"/>
          </a:xfrm>
          <a:prstGeom prst="rect">
            <a:avLst/>
          </a:prstGeom>
          <a:noFill/>
        </p:spPr>
        <p:txBody>
          <a:bodyPr wrap="none">
            <a:spAutoFit/>
          </a:bodyPr>
          <a:lstStyle/>
          <a:p>
            <a:pPr algn="r"/>
            <a:r>
              <a:rPr sz="950" b="1">
                <a:solidFill>
                  <a:srgbClr val="78716C"/>
                </a:solidFill>
                <a:latin typeface="Calibri"/>
              </a:rPr>
              <a:t>ALL STAFF</a:t>
            </a:r>
          </a:p>
        </p:txBody>
      </p:sp>
      <p:sp>
        <p:nvSpPr>
          <p:cNvPr id="4" name="Rectangle 3"/>
          <p:cNvSpPr/>
          <p:nvPr/>
        </p:nvSpPr>
        <p:spPr>
          <a:xfrm>
            <a:off x="566928" y="841248"/>
            <a:ext cx="11057839" cy="254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382512"/>
            <a:ext cx="3657600" cy="274320"/>
          </a:xfrm>
          <a:prstGeom prst="rect">
            <a:avLst/>
          </a:prstGeom>
          <a:noFill/>
        </p:spPr>
        <p:txBody>
          <a:bodyPr wrap="square">
            <a:spAutoFit/>
          </a:bodyPr>
          <a:lstStyle/>
          <a:p>
            <a:pPr algn="l">
              <a:spcAft>
                <a:spcPts val="0"/>
              </a:spcAft>
            </a:pPr>
            <a:r>
              <a:rPr sz="900" b="0">
                <a:solidFill>
                  <a:srgbClr val="78716C"/>
                </a:solidFill>
                <a:latin typeface="Calibri"/>
              </a:rPr>
              <a:t>Gonzaga Dental Clinic · 11 / 27</a:t>
            </a:r>
          </a:p>
        </p:txBody>
      </p:sp>
      <p:pic>
        <p:nvPicPr>
          <p:cNvPr id="6" name="Picture 5" descr="05-patient-search.png"/>
          <p:cNvPicPr>
            <a:picLocks noChangeAspect="1"/>
          </p:cNvPicPr>
          <p:nvPr/>
        </p:nvPicPr>
        <p:blipFill>
          <a:blip r:embed="rId2"/>
          <a:stretch>
            <a:fillRect/>
          </a:stretch>
        </p:blipFill>
        <p:spPr>
          <a:xfrm>
            <a:off x="566928" y="1115568"/>
            <a:ext cx="5806440" cy="3629025"/>
          </a:xfrm>
          <a:prstGeom prst="rect">
            <a:avLst/>
          </a:prstGeom>
        </p:spPr>
      </p:pic>
      <p:sp>
        <p:nvSpPr>
          <p:cNvPr id="7" name="TextBox 6"/>
          <p:cNvSpPr txBox="1"/>
          <p:nvPr/>
        </p:nvSpPr>
        <p:spPr>
          <a:xfrm>
            <a:off x="6629400" y="1143000"/>
            <a:ext cx="5029200" cy="640080"/>
          </a:xfrm>
          <a:prstGeom prst="rect">
            <a:avLst/>
          </a:prstGeom>
          <a:noFill/>
        </p:spPr>
        <p:txBody>
          <a:bodyPr wrap="square">
            <a:spAutoFit/>
          </a:bodyPr>
          <a:lstStyle/>
          <a:p>
            <a:pPr algn="l">
              <a:spcAft>
                <a:spcPts val="0"/>
              </a:spcAft>
            </a:pPr>
            <a:r>
              <a:rPr sz="1250" b="0">
                <a:solidFill>
                  <a:srgbClr val="78716C"/>
                </a:solidFill>
                <a:latin typeface="Calibri"/>
              </a:rPr>
              <a:t>The same directory after a query, to show filtering end to end.</a:t>
            </a:r>
          </a:p>
        </p:txBody>
      </p:sp>
      <p:sp>
        <p:nvSpPr>
          <p:cNvPr id="8" name="TextBox 7"/>
          <p:cNvSpPr txBox="1"/>
          <p:nvPr/>
        </p:nvSpPr>
        <p:spPr>
          <a:xfrm>
            <a:off x="6629400" y="1783080"/>
            <a:ext cx="5029200" cy="4206240"/>
          </a:xfrm>
          <a:prstGeom prst="rect">
            <a:avLst/>
          </a:prstGeom>
          <a:noFill/>
        </p:spPr>
        <p:txBody>
          <a:bodyPr wrap="square">
            <a:spAutoFit/>
          </a:bodyPr>
          <a:lstStyle/>
          <a:p>
            <a:pPr>
              <a:spcAft>
                <a:spcPts val="900"/>
              </a:spcAft>
            </a:pPr>
            <a:r>
              <a:rPr sz="1150">
                <a:solidFill>
                  <a:srgbClr val="1C1917"/>
                </a:solidFill>
                <a:latin typeface="Calibri"/>
              </a:rPr>
              <a:t>•  Results update without a full page load and the query stays in the address bar.</a:t>
            </a:r>
          </a:p>
          <a:p>
            <a:pPr>
              <a:spcAft>
                <a:spcPts val="900"/>
              </a:spcAft>
            </a:pPr>
            <a:r>
              <a:rPr sz="1150">
                <a:solidFill>
                  <a:srgbClr val="1C1917"/>
                </a:solidFill>
                <a:latin typeface="Calibri"/>
              </a:rPr>
              <a:t>•  An archived patient is hidden by default; the toggle includes them for records that need correcting.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566928" y="310896"/>
            <a:ext cx="8595360" cy="457200"/>
          </a:xfrm>
          <a:prstGeom prst="rect">
            <a:avLst/>
          </a:prstGeom>
          <a:noFill/>
        </p:spPr>
        <p:txBody>
          <a:bodyPr wrap="square">
            <a:spAutoFit/>
          </a:bodyPr>
          <a:lstStyle/>
          <a:p>
            <a:pPr algn="l">
              <a:spcAft>
                <a:spcPts val="0"/>
              </a:spcAft>
            </a:pPr>
            <a:r>
              <a:rPr sz="2400" b="1">
                <a:solidFill>
                  <a:srgbClr val="1C1917"/>
                </a:solidFill>
                <a:latin typeface="Calibri"/>
              </a:rPr>
              <a:t>Patient record: overview</a:t>
            </a:r>
          </a:p>
        </p:txBody>
      </p:sp>
      <p:sp>
        <p:nvSpPr>
          <p:cNvPr id="3" name="TextBox 2"/>
          <p:cNvSpPr txBox="1"/>
          <p:nvPr/>
        </p:nvSpPr>
        <p:spPr>
          <a:xfrm>
            <a:off x="9521647" y="384048"/>
            <a:ext cx="2103120" cy="274320"/>
          </a:xfrm>
          <a:prstGeom prst="rect">
            <a:avLst/>
          </a:prstGeom>
          <a:noFill/>
        </p:spPr>
        <p:txBody>
          <a:bodyPr wrap="none">
            <a:spAutoFit/>
          </a:bodyPr>
          <a:lstStyle/>
          <a:p>
            <a:pPr algn="r"/>
            <a:r>
              <a:rPr sz="950" b="1">
                <a:solidFill>
                  <a:srgbClr val="78716C"/>
                </a:solidFill>
                <a:latin typeface="Calibri"/>
              </a:rPr>
              <a:t>ALL STAFF</a:t>
            </a:r>
          </a:p>
        </p:txBody>
      </p:sp>
      <p:sp>
        <p:nvSpPr>
          <p:cNvPr id="4" name="Rectangle 3"/>
          <p:cNvSpPr/>
          <p:nvPr/>
        </p:nvSpPr>
        <p:spPr>
          <a:xfrm>
            <a:off x="566928" y="841248"/>
            <a:ext cx="11057839" cy="254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382512"/>
            <a:ext cx="3657600" cy="274320"/>
          </a:xfrm>
          <a:prstGeom prst="rect">
            <a:avLst/>
          </a:prstGeom>
          <a:noFill/>
        </p:spPr>
        <p:txBody>
          <a:bodyPr wrap="square">
            <a:spAutoFit/>
          </a:bodyPr>
          <a:lstStyle/>
          <a:p>
            <a:pPr algn="l">
              <a:spcAft>
                <a:spcPts val="0"/>
              </a:spcAft>
            </a:pPr>
            <a:r>
              <a:rPr sz="900" b="0">
                <a:solidFill>
                  <a:srgbClr val="78716C"/>
                </a:solidFill>
                <a:latin typeface="Calibri"/>
              </a:rPr>
              <a:t>Gonzaga Dental Clinic · 12 / 27</a:t>
            </a:r>
          </a:p>
        </p:txBody>
      </p:sp>
      <p:pic>
        <p:nvPicPr>
          <p:cNvPr id="6" name="Picture 5" descr="06-patient-overview.png"/>
          <p:cNvPicPr>
            <a:picLocks noChangeAspect="1"/>
          </p:cNvPicPr>
          <p:nvPr/>
        </p:nvPicPr>
        <p:blipFill>
          <a:blip r:embed="rId2"/>
          <a:stretch>
            <a:fillRect/>
          </a:stretch>
        </p:blipFill>
        <p:spPr>
          <a:xfrm>
            <a:off x="1071770" y="1115568"/>
            <a:ext cx="4796756" cy="4160520"/>
          </a:xfrm>
          <a:prstGeom prst="rect">
            <a:avLst/>
          </a:prstGeom>
        </p:spPr>
      </p:pic>
      <p:sp>
        <p:nvSpPr>
          <p:cNvPr id="7" name="TextBox 6"/>
          <p:cNvSpPr txBox="1"/>
          <p:nvPr/>
        </p:nvSpPr>
        <p:spPr>
          <a:xfrm>
            <a:off x="6629400" y="1143000"/>
            <a:ext cx="5029200" cy="640080"/>
          </a:xfrm>
          <a:prstGeom prst="rect">
            <a:avLst/>
          </a:prstGeom>
          <a:noFill/>
        </p:spPr>
        <p:txBody>
          <a:bodyPr wrap="square">
            <a:spAutoFit/>
          </a:bodyPr>
          <a:lstStyle/>
          <a:p>
            <a:pPr algn="l">
              <a:spcAft>
                <a:spcPts val="0"/>
              </a:spcAft>
            </a:pPr>
            <a:r>
              <a:rPr sz="1250" b="0">
                <a:solidFill>
                  <a:srgbClr val="78716C"/>
                </a:solidFill>
                <a:latin typeface="Calibri"/>
              </a:rPr>
              <a:t>Demographics, medical context and upcoming visits for one patient.</a:t>
            </a:r>
          </a:p>
        </p:txBody>
      </p:sp>
      <p:sp>
        <p:nvSpPr>
          <p:cNvPr id="8" name="TextBox 7"/>
          <p:cNvSpPr txBox="1"/>
          <p:nvPr/>
        </p:nvSpPr>
        <p:spPr>
          <a:xfrm>
            <a:off x="6629400" y="1783080"/>
            <a:ext cx="5029200" cy="4206240"/>
          </a:xfrm>
          <a:prstGeom prst="rect">
            <a:avLst/>
          </a:prstGeom>
          <a:noFill/>
        </p:spPr>
        <p:txBody>
          <a:bodyPr wrap="square">
            <a:spAutoFit/>
          </a:bodyPr>
          <a:lstStyle/>
          <a:p>
            <a:pPr>
              <a:spcAft>
                <a:spcPts val="900"/>
              </a:spcAft>
            </a:pPr>
            <a:r>
              <a:rPr sz="1150">
                <a:solidFill>
                  <a:srgbClr val="1C1917"/>
                </a:solidFill>
                <a:latin typeface="Calibri"/>
              </a:rPr>
              <a:t>•  Allergies are placed at the top, not buried in a tab, because an unnoticed allergy is a clinical risk.</a:t>
            </a:r>
          </a:p>
          <a:p>
            <a:pPr>
              <a:spcAft>
                <a:spcPts val="900"/>
              </a:spcAft>
            </a:pPr>
            <a:r>
              <a:rPr sz="1150">
                <a:solidFill>
                  <a:srgbClr val="1C1917"/>
                </a:solidFill>
                <a:latin typeface="Calibri"/>
              </a:rPr>
              <a:t>•  Demographics are read-only here and edited through a separate, deliberate flow.</a:t>
            </a:r>
          </a:p>
          <a:p>
            <a:pPr>
              <a:spcAft>
                <a:spcPts val="900"/>
              </a:spcAft>
            </a:pPr>
            <a:r>
              <a:rPr sz="1150">
                <a:solidFill>
                  <a:srgbClr val="1C1917"/>
                </a:solidFill>
                <a:latin typeface="Calibri"/>
              </a:rPr>
              <a:t>•  The tab bar (overview, treatments, consent, appointments, edit) is the whole record; nothing important is more than one click away.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566928" y="310896"/>
            <a:ext cx="8595360" cy="457200"/>
          </a:xfrm>
          <a:prstGeom prst="rect">
            <a:avLst/>
          </a:prstGeom>
          <a:noFill/>
        </p:spPr>
        <p:txBody>
          <a:bodyPr wrap="square">
            <a:spAutoFit/>
          </a:bodyPr>
          <a:lstStyle/>
          <a:p>
            <a:pPr algn="l">
              <a:spcAft>
                <a:spcPts val="0"/>
              </a:spcAft>
            </a:pPr>
            <a:r>
              <a:rPr sz="2400" b="1">
                <a:solidFill>
                  <a:srgbClr val="1C1917"/>
                </a:solidFill>
                <a:latin typeface="Calibri"/>
              </a:rPr>
              <a:t>Patient record: treatments</a:t>
            </a:r>
          </a:p>
        </p:txBody>
      </p:sp>
      <p:sp>
        <p:nvSpPr>
          <p:cNvPr id="3" name="TextBox 2"/>
          <p:cNvSpPr txBox="1"/>
          <p:nvPr/>
        </p:nvSpPr>
        <p:spPr>
          <a:xfrm>
            <a:off x="9521647" y="384048"/>
            <a:ext cx="2103120" cy="274320"/>
          </a:xfrm>
          <a:prstGeom prst="rect">
            <a:avLst/>
          </a:prstGeom>
          <a:noFill/>
        </p:spPr>
        <p:txBody>
          <a:bodyPr wrap="none">
            <a:spAutoFit/>
          </a:bodyPr>
          <a:lstStyle/>
          <a:p>
            <a:pPr algn="r"/>
            <a:r>
              <a:rPr sz="950" b="1">
                <a:solidFill>
                  <a:srgbClr val="78716C"/>
                </a:solidFill>
                <a:latin typeface="Calibri"/>
              </a:rPr>
              <a:t>ALL STAFF</a:t>
            </a:r>
          </a:p>
        </p:txBody>
      </p:sp>
      <p:sp>
        <p:nvSpPr>
          <p:cNvPr id="4" name="Rectangle 3"/>
          <p:cNvSpPr/>
          <p:nvPr/>
        </p:nvSpPr>
        <p:spPr>
          <a:xfrm>
            <a:off x="566928" y="841248"/>
            <a:ext cx="11057839" cy="254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382512"/>
            <a:ext cx="3657600" cy="274320"/>
          </a:xfrm>
          <a:prstGeom prst="rect">
            <a:avLst/>
          </a:prstGeom>
          <a:noFill/>
        </p:spPr>
        <p:txBody>
          <a:bodyPr wrap="square">
            <a:spAutoFit/>
          </a:bodyPr>
          <a:lstStyle/>
          <a:p>
            <a:pPr algn="l">
              <a:spcAft>
                <a:spcPts val="0"/>
              </a:spcAft>
            </a:pPr>
            <a:r>
              <a:rPr sz="900" b="0">
                <a:solidFill>
                  <a:srgbClr val="78716C"/>
                </a:solidFill>
                <a:latin typeface="Calibri"/>
              </a:rPr>
              <a:t>Gonzaga Dental Clinic · 13 / 27</a:t>
            </a:r>
          </a:p>
        </p:txBody>
      </p:sp>
      <p:pic>
        <p:nvPicPr>
          <p:cNvPr id="6" name="Picture 5" descr="07-patient-treatments.png"/>
          <p:cNvPicPr>
            <a:picLocks noChangeAspect="1"/>
          </p:cNvPicPr>
          <p:nvPr/>
        </p:nvPicPr>
        <p:blipFill>
          <a:blip r:embed="rId2"/>
          <a:stretch>
            <a:fillRect/>
          </a:stretch>
        </p:blipFill>
        <p:spPr>
          <a:xfrm>
            <a:off x="1541253" y="1115568"/>
            <a:ext cx="3857790" cy="4160519"/>
          </a:xfrm>
          <a:prstGeom prst="rect">
            <a:avLst/>
          </a:prstGeom>
        </p:spPr>
      </p:pic>
      <p:sp>
        <p:nvSpPr>
          <p:cNvPr id="7" name="TextBox 6"/>
          <p:cNvSpPr txBox="1"/>
          <p:nvPr/>
        </p:nvSpPr>
        <p:spPr>
          <a:xfrm>
            <a:off x="6629400" y="1143000"/>
            <a:ext cx="5029200" cy="640080"/>
          </a:xfrm>
          <a:prstGeom prst="rect">
            <a:avLst/>
          </a:prstGeom>
          <a:noFill/>
        </p:spPr>
        <p:txBody>
          <a:bodyPr wrap="square">
            <a:spAutoFit/>
          </a:bodyPr>
          <a:lstStyle/>
          <a:p>
            <a:pPr algn="l">
              <a:spcAft>
                <a:spcPts val="0"/>
              </a:spcAft>
            </a:pPr>
            <a:r>
              <a:rPr sz="1250" b="0">
                <a:solidFill>
                  <a:srgbClr val="78716C"/>
                </a:solidFill>
                <a:latin typeface="Calibri"/>
              </a:rPr>
              <a:t>The clinical history that used to live on a paper index card.</a:t>
            </a:r>
          </a:p>
        </p:txBody>
      </p:sp>
      <p:sp>
        <p:nvSpPr>
          <p:cNvPr id="8" name="TextBox 7"/>
          <p:cNvSpPr txBox="1"/>
          <p:nvPr/>
        </p:nvSpPr>
        <p:spPr>
          <a:xfrm>
            <a:off x="6629400" y="1783080"/>
            <a:ext cx="5029200" cy="4206240"/>
          </a:xfrm>
          <a:prstGeom prst="rect">
            <a:avLst/>
          </a:prstGeom>
          <a:noFill/>
        </p:spPr>
        <p:txBody>
          <a:bodyPr wrap="square">
            <a:spAutoFit/>
          </a:bodyPr>
          <a:lstStyle/>
          <a:p>
            <a:pPr>
              <a:spcAft>
                <a:spcPts val="900"/>
              </a:spcAft>
            </a:pPr>
            <a:r>
              <a:rPr sz="1150">
                <a:solidFill>
                  <a:srgbClr val="1C1917"/>
                </a:solidFill>
                <a:latin typeface="Calibri"/>
              </a:rPr>
              <a:t>•  The tooth is chosen by tapping it on the chart rather than typing a two-digit code. A dentist identifies a tooth by where it sits; asking for a number is the slowest, most error-prone way to record it.</a:t>
            </a:r>
          </a:p>
          <a:p>
            <a:pPr>
              <a:spcAft>
                <a:spcPts val="900"/>
              </a:spcAft>
            </a:pPr>
            <a:r>
              <a:rPr sz="1150">
                <a:solidFill>
                  <a:srgbClr val="1C1917"/>
                </a:solidFill>
                <a:latin typeface="Calibri"/>
              </a:rPr>
              <a:t>•  Teeth already treated for this patient are shaded with their procedure count, so prior work on the tooth is visible while charting rather than after.</a:t>
            </a:r>
          </a:p>
          <a:p>
            <a:pPr>
              <a:spcAft>
                <a:spcPts val="900"/>
              </a:spcAft>
            </a:pPr>
            <a:r>
              <a:rPr sz="1150">
                <a:solidFill>
                  <a:srgbClr val="1C1917"/>
                </a:solidFill>
                <a:latin typeface="Calibri"/>
              </a:rPr>
              <a:t>•  The chart and the text box are two views of one value, so a tapped tooth and a typed range can never disagree about what gets saved. Child teeth are one checkbox away.</a:t>
            </a:r>
          </a:p>
          <a:p>
            <a:pPr>
              <a:spcAft>
                <a:spcPts val="900"/>
              </a:spcAft>
            </a:pPr>
            <a:r>
              <a:rPr sz="1150">
                <a:solidFill>
                  <a:srgbClr val="1C1917"/>
                </a:solidFill>
                <a:latin typeface="Calibri"/>
              </a:rPr>
              <a:t>•  Charting follows the FDI two-digit notation, so a tooth is named the same way the clinic already names it.</a:t>
            </a:r>
          </a:p>
          <a:p>
            <a:pPr>
              <a:spcAft>
                <a:spcPts val="900"/>
              </a:spcAft>
            </a:pPr>
            <a:r>
              <a:rPr sz="1150">
                <a:solidFill>
                  <a:srgbClr val="1C1917"/>
                </a:solidFill>
                <a:latin typeface="Calibri"/>
              </a:rPr>
              <a:t>•  Each entry records surfaces, procedure and who performed it, which is what an audit or a complaint review needs.</a:t>
            </a:r>
          </a:p>
          <a:p>
            <a:pPr>
              <a:spcAft>
                <a:spcPts val="900"/>
              </a:spcAft>
            </a:pPr>
            <a:r>
              <a:rPr sz="1150">
                <a:solidFill>
                  <a:srgbClr val="1C1917"/>
                </a:solidFill>
                <a:latin typeface="Calibri"/>
              </a:rPr>
              <a:t>•  Print produces a clean chart for the physical file, with navigation and controls hidden.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566928" y="310896"/>
            <a:ext cx="8595360" cy="457200"/>
          </a:xfrm>
          <a:prstGeom prst="rect">
            <a:avLst/>
          </a:prstGeom>
          <a:noFill/>
        </p:spPr>
        <p:txBody>
          <a:bodyPr wrap="square">
            <a:spAutoFit/>
          </a:bodyPr>
          <a:lstStyle/>
          <a:p>
            <a:pPr algn="l">
              <a:spcAft>
                <a:spcPts val="0"/>
              </a:spcAft>
            </a:pPr>
            <a:r>
              <a:rPr sz="2400" b="1">
                <a:solidFill>
                  <a:srgbClr val="1C1917"/>
                </a:solidFill>
                <a:latin typeface="Calibri"/>
              </a:rPr>
              <a:t>Patient record: consent</a:t>
            </a:r>
          </a:p>
        </p:txBody>
      </p:sp>
      <p:sp>
        <p:nvSpPr>
          <p:cNvPr id="3" name="TextBox 2"/>
          <p:cNvSpPr txBox="1"/>
          <p:nvPr/>
        </p:nvSpPr>
        <p:spPr>
          <a:xfrm>
            <a:off x="9521647" y="384048"/>
            <a:ext cx="2103120" cy="274320"/>
          </a:xfrm>
          <a:prstGeom prst="rect">
            <a:avLst/>
          </a:prstGeom>
          <a:noFill/>
        </p:spPr>
        <p:txBody>
          <a:bodyPr wrap="none">
            <a:spAutoFit/>
          </a:bodyPr>
          <a:lstStyle/>
          <a:p>
            <a:pPr algn="r"/>
            <a:r>
              <a:rPr sz="950" b="1">
                <a:solidFill>
                  <a:srgbClr val="78716C"/>
                </a:solidFill>
                <a:latin typeface="Calibri"/>
              </a:rPr>
              <a:t>ALL STAFF</a:t>
            </a:r>
          </a:p>
        </p:txBody>
      </p:sp>
      <p:sp>
        <p:nvSpPr>
          <p:cNvPr id="4" name="Rectangle 3"/>
          <p:cNvSpPr/>
          <p:nvPr/>
        </p:nvSpPr>
        <p:spPr>
          <a:xfrm>
            <a:off x="566928" y="841248"/>
            <a:ext cx="11057839" cy="254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382512"/>
            <a:ext cx="3657600" cy="274320"/>
          </a:xfrm>
          <a:prstGeom prst="rect">
            <a:avLst/>
          </a:prstGeom>
          <a:noFill/>
        </p:spPr>
        <p:txBody>
          <a:bodyPr wrap="square">
            <a:spAutoFit/>
          </a:bodyPr>
          <a:lstStyle/>
          <a:p>
            <a:pPr algn="l">
              <a:spcAft>
                <a:spcPts val="0"/>
              </a:spcAft>
            </a:pPr>
            <a:r>
              <a:rPr sz="900" b="0">
                <a:solidFill>
                  <a:srgbClr val="78716C"/>
                </a:solidFill>
                <a:latin typeface="Calibri"/>
              </a:rPr>
              <a:t>Gonzaga Dental Clinic · 14 / 27</a:t>
            </a:r>
          </a:p>
        </p:txBody>
      </p:sp>
      <p:pic>
        <p:nvPicPr>
          <p:cNvPr id="6" name="Picture 5" descr="08-patient-consent.png"/>
          <p:cNvPicPr>
            <a:picLocks noChangeAspect="1"/>
          </p:cNvPicPr>
          <p:nvPr/>
        </p:nvPicPr>
        <p:blipFill>
          <a:blip r:embed="rId2"/>
          <a:stretch>
            <a:fillRect/>
          </a:stretch>
        </p:blipFill>
        <p:spPr>
          <a:xfrm>
            <a:off x="1289963" y="1115568"/>
            <a:ext cx="4360370" cy="4160520"/>
          </a:xfrm>
          <a:prstGeom prst="rect">
            <a:avLst/>
          </a:prstGeom>
        </p:spPr>
      </p:pic>
      <p:sp>
        <p:nvSpPr>
          <p:cNvPr id="7" name="TextBox 6"/>
          <p:cNvSpPr txBox="1"/>
          <p:nvPr/>
        </p:nvSpPr>
        <p:spPr>
          <a:xfrm>
            <a:off x="6629400" y="1143000"/>
            <a:ext cx="5029200" cy="640080"/>
          </a:xfrm>
          <a:prstGeom prst="rect">
            <a:avLst/>
          </a:prstGeom>
          <a:noFill/>
        </p:spPr>
        <p:txBody>
          <a:bodyPr wrap="square">
            <a:spAutoFit/>
          </a:bodyPr>
          <a:lstStyle/>
          <a:p>
            <a:pPr algn="l">
              <a:spcAft>
                <a:spcPts val="0"/>
              </a:spcAft>
            </a:pPr>
            <a:r>
              <a:rPr sz="1250" b="0">
                <a:solidFill>
                  <a:srgbClr val="78716C"/>
                </a:solidFill>
                <a:latin typeface="Calibri"/>
              </a:rPr>
              <a:t>Consent captured per patient, versioned over time.</a:t>
            </a:r>
          </a:p>
        </p:txBody>
      </p:sp>
      <p:sp>
        <p:nvSpPr>
          <p:cNvPr id="8" name="TextBox 7"/>
          <p:cNvSpPr txBox="1"/>
          <p:nvPr/>
        </p:nvSpPr>
        <p:spPr>
          <a:xfrm>
            <a:off x="6629400" y="1783080"/>
            <a:ext cx="5029200" cy="4206240"/>
          </a:xfrm>
          <a:prstGeom prst="rect">
            <a:avLst/>
          </a:prstGeom>
          <a:noFill/>
        </p:spPr>
        <p:txBody>
          <a:bodyPr wrap="square">
            <a:spAutoFit/>
          </a:bodyPr>
          <a:lstStyle/>
          <a:p>
            <a:pPr>
              <a:spcAft>
                <a:spcPts val="900"/>
              </a:spcAft>
            </a:pPr>
            <a:r>
              <a:rPr sz="1150">
                <a:solidFill>
                  <a:srgbClr val="1C1917"/>
                </a:solidFill>
                <a:latin typeface="Calibri"/>
              </a:rPr>
              <a:t>•  A consent record stores the exact version the patient agreed to, not just a checkbox.</a:t>
            </a:r>
          </a:p>
          <a:p>
            <a:pPr>
              <a:spcAft>
                <a:spcPts val="900"/>
              </a:spcAft>
            </a:pPr>
            <a:r>
              <a:rPr sz="1150">
                <a:solidFill>
                  <a:srgbClr val="1C1917"/>
                </a:solidFill>
                <a:latin typeface="Calibri"/>
              </a:rPr>
              <a:t>•  History is retained so a later dispute can be answered with what was actually signed at the time.</a:t>
            </a:r>
          </a:p>
          <a:p>
            <a:pPr>
              <a:spcAft>
                <a:spcPts val="900"/>
              </a:spcAft>
            </a:pPr>
            <a:r>
              <a:rPr sz="1150">
                <a:solidFill>
                  <a:srgbClr val="1C1917"/>
                </a:solidFill>
                <a:latin typeface="Calibri"/>
              </a:rPr>
              <a:t>•  Consent wording is a clinic decision and is deliberately not invented here.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566928" y="310896"/>
            <a:ext cx="8595360" cy="457200"/>
          </a:xfrm>
          <a:prstGeom prst="rect">
            <a:avLst/>
          </a:prstGeom>
          <a:noFill/>
        </p:spPr>
        <p:txBody>
          <a:bodyPr wrap="square">
            <a:spAutoFit/>
          </a:bodyPr>
          <a:lstStyle/>
          <a:p>
            <a:pPr algn="l">
              <a:spcAft>
                <a:spcPts val="0"/>
              </a:spcAft>
            </a:pPr>
            <a:r>
              <a:rPr sz="2400" b="1">
                <a:solidFill>
                  <a:srgbClr val="1C1917"/>
                </a:solidFill>
                <a:latin typeface="Calibri"/>
              </a:rPr>
              <a:t>Patient record: appointments</a:t>
            </a:r>
          </a:p>
        </p:txBody>
      </p:sp>
      <p:sp>
        <p:nvSpPr>
          <p:cNvPr id="3" name="TextBox 2"/>
          <p:cNvSpPr txBox="1"/>
          <p:nvPr/>
        </p:nvSpPr>
        <p:spPr>
          <a:xfrm>
            <a:off x="9521647" y="384048"/>
            <a:ext cx="2103120" cy="274320"/>
          </a:xfrm>
          <a:prstGeom prst="rect">
            <a:avLst/>
          </a:prstGeom>
          <a:noFill/>
        </p:spPr>
        <p:txBody>
          <a:bodyPr wrap="none">
            <a:spAutoFit/>
          </a:bodyPr>
          <a:lstStyle/>
          <a:p>
            <a:pPr algn="r"/>
            <a:r>
              <a:rPr sz="950" b="1">
                <a:solidFill>
                  <a:srgbClr val="78716C"/>
                </a:solidFill>
                <a:latin typeface="Calibri"/>
              </a:rPr>
              <a:t>ALL STAFF</a:t>
            </a:r>
          </a:p>
        </p:txBody>
      </p:sp>
      <p:sp>
        <p:nvSpPr>
          <p:cNvPr id="4" name="Rectangle 3"/>
          <p:cNvSpPr/>
          <p:nvPr/>
        </p:nvSpPr>
        <p:spPr>
          <a:xfrm>
            <a:off x="566928" y="841248"/>
            <a:ext cx="11057839" cy="254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382512"/>
            <a:ext cx="3657600" cy="274320"/>
          </a:xfrm>
          <a:prstGeom prst="rect">
            <a:avLst/>
          </a:prstGeom>
          <a:noFill/>
        </p:spPr>
        <p:txBody>
          <a:bodyPr wrap="square">
            <a:spAutoFit/>
          </a:bodyPr>
          <a:lstStyle/>
          <a:p>
            <a:pPr algn="l">
              <a:spcAft>
                <a:spcPts val="0"/>
              </a:spcAft>
            </a:pPr>
            <a:r>
              <a:rPr sz="900" b="0">
                <a:solidFill>
                  <a:srgbClr val="78716C"/>
                </a:solidFill>
                <a:latin typeface="Calibri"/>
              </a:rPr>
              <a:t>Gonzaga Dental Clinic · 15 / 27</a:t>
            </a:r>
          </a:p>
        </p:txBody>
      </p:sp>
      <p:pic>
        <p:nvPicPr>
          <p:cNvPr id="6" name="Picture 5" descr="09-patient-appointments.png"/>
          <p:cNvPicPr>
            <a:picLocks noChangeAspect="1"/>
          </p:cNvPicPr>
          <p:nvPr/>
        </p:nvPicPr>
        <p:blipFill>
          <a:blip r:embed="rId2"/>
          <a:stretch>
            <a:fillRect/>
          </a:stretch>
        </p:blipFill>
        <p:spPr>
          <a:xfrm>
            <a:off x="566928" y="1115568"/>
            <a:ext cx="5806440" cy="3629025"/>
          </a:xfrm>
          <a:prstGeom prst="rect">
            <a:avLst/>
          </a:prstGeom>
        </p:spPr>
      </p:pic>
      <p:sp>
        <p:nvSpPr>
          <p:cNvPr id="7" name="TextBox 6"/>
          <p:cNvSpPr txBox="1"/>
          <p:nvPr/>
        </p:nvSpPr>
        <p:spPr>
          <a:xfrm>
            <a:off x="6629400" y="1143000"/>
            <a:ext cx="5029200" cy="640080"/>
          </a:xfrm>
          <a:prstGeom prst="rect">
            <a:avLst/>
          </a:prstGeom>
          <a:noFill/>
        </p:spPr>
        <p:txBody>
          <a:bodyPr wrap="square">
            <a:spAutoFit/>
          </a:bodyPr>
          <a:lstStyle/>
          <a:p>
            <a:pPr algn="l">
              <a:spcAft>
                <a:spcPts val="0"/>
              </a:spcAft>
            </a:pPr>
            <a:r>
              <a:rPr sz="1250" b="0">
                <a:solidFill>
                  <a:srgbClr val="78716C"/>
                </a:solidFill>
                <a:latin typeface="Calibri"/>
              </a:rPr>
              <a:t>This patient's appointment history.</a:t>
            </a:r>
          </a:p>
        </p:txBody>
      </p:sp>
      <p:sp>
        <p:nvSpPr>
          <p:cNvPr id="8" name="TextBox 7"/>
          <p:cNvSpPr txBox="1"/>
          <p:nvPr/>
        </p:nvSpPr>
        <p:spPr>
          <a:xfrm>
            <a:off x="6629400" y="1783080"/>
            <a:ext cx="5029200" cy="4206240"/>
          </a:xfrm>
          <a:prstGeom prst="rect">
            <a:avLst/>
          </a:prstGeom>
          <a:noFill/>
        </p:spPr>
        <p:txBody>
          <a:bodyPr wrap="square">
            <a:spAutoFit/>
          </a:bodyPr>
          <a:lstStyle/>
          <a:p>
            <a:pPr>
              <a:spcAft>
                <a:spcPts val="900"/>
              </a:spcAft>
            </a:pPr>
            <a:r>
              <a:rPr sz="1150">
                <a:solidFill>
                  <a:srgbClr val="1C1917"/>
                </a:solidFill>
                <a:latin typeface="Calibri"/>
              </a:rPr>
              <a:t>•  Past and upcoming are separated so the two are never confused.</a:t>
            </a:r>
          </a:p>
          <a:p>
            <a:pPr>
              <a:spcAft>
                <a:spcPts val="900"/>
              </a:spcAft>
            </a:pPr>
            <a:r>
              <a:rPr sz="1150">
                <a:solidFill>
                  <a:srgbClr val="1C1917"/>
                </a:solidFill>
                <a:latin typeface="Calibri"/>
              </a:rPr>
              <a:t>•  Overlapping appointments for the same patient are rejected by the database, not just by the form, so a race between two secretaries cannot double-book.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566928" y="310896"/>
            <a:ext cx="8595360" cy="457200"/>
          </a:xfrm>
          <a:prstGeom prst="rect">
            <a:avLst/>
          </a:prstGeom>
          <a:noFill/>
        </p:spPr>
        <p:txBody>
          <a:bodyPr wrap="square">
            <a:spAutoFit/>
          </a:bodyPr>
          <a:lstStyle/>
          <a:p>
            <a:pPr algn="l">
              <a:spcAft>
                <a:spcPts val="0"/>
              </a:spcAft>
            </a:pPr>
            <a:r>
              <a:rPr sz="2400" b="1">
                <a:solidFill>
                  <a:srgbClr val="1C1917"/>
                </a:solidFill>
                <a:latin typeface="Calibri"/>
              </a:rPr>
              <a:t>Patient record: edit</a:t>
            </a:r>
          </a:p>
        </p:txBody>
      </p:sp>
      <p:sp>
        <p:nvSpPr>
          <p:cNvPr id="3" name="TextBox 2"/>
          <p:cNvSpPr txBox="1"/>
          <p:nvPr/>
        </p:nvSpPr>
        <p:spPr>
          <a:xfrm>
            <a:off x="9521647" y="384048"/>
            <a:ext cx="2103120" cy="274320"/>
          </a:xfrm>
          <a:prstGeom prst="rect">
            <a:avLst/>
          </a:prstGeom>
          <a:noFill/>
        </p:spPr>
        <p:txBody>
          <a:bodyPr wrap="none">
            <a:spAutoFit/>
          </a:bodyPr>
          <a:lstStyle/>
          <a:p>
            <a:pPr algn="r"/>
            <a:r>
              <a:rPr sz="950" b="1">
                <a:solidFill>
                  <a:srgbClr val="78716C"/>
                </a:solidFill>
                <a:latin typeface="Calibri"/>
              </a:rPr>
              <a:t>ALL STAFF</a:t>
            </a:r>
          </a:p>
        </p:txBody>
      </p:sp>
      <p:sp>
        <p:nvSpPr>
          <p:cNvPr id="4" name="Rectangle 3"/>
          <p:cNvSpPr/>
          <p:nvPr/>
        </p:nvSpPr>
        <p:spPr>
          <a:xfrm>
            <a:off x="566928" y="841248"/>
            <a:ext cx="11057839" cy="254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382512"/>
            <a:ext cx="3657600" cy="274320"/>
          </a:xfrm>
          <a:prstGeom prst="rect">
            <a:avLst/>
          </a:prstGeom>
          <a:noFill/>
        </p:spPr>
        <p:txBody>
          <a:bodyPr wrap="square">
            <a:spAutoFit/>
          </a:bodyPr>
          <a:lstStyle/>
          <a:p>
            <a:pPr algn="l">
              <a:spcAft>
                <a:spcPts val="0"/>
              </a:spcAft>
            </a:pPr>
            <a:r>
              <a:rPr sz="900" b="0">
                <a:solidFill>
                  <a:srgbClr val="78716C"/>
                </a:solidFill>
                <a:latin typeface="Calibri"/>
              </a:rPr>
              <a:t>Gonzaga Dental Clinic · 16 / 27</a:t>
            </a:r>
          </a:p>
        </p:txBody>
      </p:sp>
      <p:pic>
        <p:nvPicPr>
          <p:cNvPr id="6" name="Picture 5" descr="10-patient-edit.png"/>
          <p:cNvPicPr>
            <a:picLocks noChangeAspect="1"/>
          </p:cNvPicPr>
          <p:nvPr/>
        </p:nvPicPr>
        <p:blipFill>
          <a:blip r:embed="rId2"/>
          <a:stretch>
            <a:fillRect/>
          </a:stretch>
        </p:blipFill>
        <p:spPr>
          <a:xfrm>
            <a:off x="1733583" y="1115568"/>
            <a:ext cx="3473129" cy="4160519"/>
          </a:xfrm>
          <a:prstGeom prst="rect">
            <a:avLst/>
          </a:prstGeom>
        </p:spPr>
      </p:pic>
      <p:sp>
        <p:nvSpPr>
          <p:cNvPr id="7" name="TextBox 6"/>
          <p:cNvSpPr txBox="1"/>
          <p:nvPr/>
        </p:nvSpPr>
        <p:spPr>
          <a:xfrm>
            <a:off x="6629400" y="1143000"/>
            <a:ext cx="5029200" cy="640080"/>
          </a:xfrm>
          <a:prstGeom prst="rect">
            <a:avLst/>
          </a:prstGeom>
          <a:noFill/>
        </p:spPr>
        <p:txBody>
          <a:bodyPr wrap="square">
            <a:spAutoFit/>
          </a:bodyPr>
          <a:lstStyle/>
          <a:p>
            <a:pPr algn="l">
              <a:spcAft>
                <a:spcPts val="0"/>
              </a:spcAft>
            </a:pPr>
            <a:r>
              <a:rPr sz="1250" b="0">
                <a:solidFill>
                  <a:srgbClr val="78716C"/>
                </a:solidFill>
                <a:latin typeface="Calibri"/>
              </a:rPr>
              <a:t>Editing an existing record rather than creating a new one.</a:t>
            </a:r>
          </a:p>
        </p:txBody>
      </p:sp>
      <p:sp>
        <p:nvSpPr>
          <p:cNvPr id="8" name="TextBox 7"/>
          <p:cNvSpPr txBox="1"/>
          <p:nvPr/>
        </p:nvSpPr>
        <p:spPr>
          <a:xfrm>
            <a:off x="6629400" y="1783080"/>
            <a:ext cx="5029200" cy="4206240"/>
          </a:xfrm>
          <a:prstGeom prst="rect">
            <a:avLst/>
          </a:prstGeom>
          <a:noFill/>
        </p:spPr>
        <p:txBody>
          <a:bodyPr wrap="square">
            <a:spAutoFit/>
          </a:bodyPr>
          <a:lstStyle/>
          <a:p>
            <a:pPr>
              <a:spcAft>
                <a:spcPts val="900"/>
              </a:spcAft>
            </a:pPr>
            <a:r>
              <a:rPr sz="1150">
                <a:solidFill>
                  <a:srgbClr val="1C1917"/>
                </a:solidFill>
                <a:latin typeface="Calibri"/>
              </a:rPr>
              <a:t>•  The form is pre-filled from the stored record, so an edit never silently blanks a field.</a:t>
            </a:r>
          </a:p>
          <a:p>
            <a:pPr>
              <a:spcAft>
                <a:spcPts val="900"/>
              </a:spcAft>
            </a:pPr>
            <a:r>
              <a:rPr sz="1150">
                <a:solidFill>
                  <a:srgbClr val="1C1917"/>
                </a:solidFill>
                <a:latin typeface="Calibri"/>
              </a:rPr>
              <a:t>•  Edits go through the same validation as registration, so a correction cannot create a record that registration would have refused.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566928" y="310896"/>
            <a:ext cx="8595360" cy="457200"/>
          </a:xfrm>
          <a:prstGeom prst="rect">
            <a:avLst/>
          </a:prstGeom>
          <a:noFill/>
        </p:spPr>
        <p:txBody>
          <a:bodyPr wrap="square">
            <a:spAutoFit/>
          </a:bodyPr>
          <a:lstStyle/>
          <a:p>
            <a:pPr algn="l">
              <a:spcAft>
                <a:spcPts val="0"/>
              </a:spcAft>
            </a:pPr>
            <a:r>
              <a:rPr sz="2400" b="1">
                <a:solidFill>
                  <a:srgbClr val="1C1917"/>
                </a:solidFill>
                <a:latin typeface="Calibri"/>
              </a:rPr>
              <a:t>High-risk record: allergy alert</a:t>
            </a:r>
          </a:p>
        </p:txBody>
      </p:sp>
      <p:sp>
        <p:nvSpPr>
          <p:cNvPr id="3" name="TextBox 2"/>
          <p:cNvSpPr txBox="1"/>
          <p:nvPr/>
        </p:nvSpPr>
        <p:spPr>
          <a:xfrm>
            <a:off x="9521647" y="384048"/>
            <a:ext cx="2103120" cy="274320"/>
          </a:xfrm>
          <a:prstGeom prst="rect">
            <a:avLst/>
          </a:prstGeom>
          <a:noFill/>
        </p:spPr>
        <p:txBody>
          <a:bodyPr wrap="none">
            <a:spAutoFit/>
          </a:bodyPr>
          <a:lstStyle/>
          <a:p>
            <a:pPr algn="r"/>
            <a:r>
              <a:rPr sz="950" b="1">
                <a:solidFill>
                  <a:srgbClr val="78716C"/>
                </a:solidFill>
                <a:latin typeface="Calibri"/>
              </a:rPr>
              <a:t>ALL STAFF</a:t>
            </a:r>
          </a:p>
        </p:txBody>
      </p:sp>
      <p:sp>
        <p:nvSpPr>
          <p:cNvPr id="4" name="Rectangle 3"/>
          <p:cNvSpPr/>
          <p:nvPr/>
        </p:nvSpPr>
        <p:spPr>
          <a:xfrm>
            <a:off x="566928" y="841248"/>
            <a:ext cx="11057839" cy="254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382512"/>
            <a:ext cx="3657600" cy="274320"/>
          </a:xfrm>
          <a:prstGeom prst="rect">
            <a:avLst/>
          </a:prstGeom>
          <a:noFill/>
        </p:spPr>
        <p:txBody>
          <a:bodyPr wrap="square">
            <a:spAutoFit/>
          </a:bodyPr>
          <a:lstStyle/>
          <a:p>
            <a:pPr algn="l">
              <a:spcAft>
                <a:spcPts val="0"/>
              </a:spcAft>
            </a:pPr>
            <a:r>
              <a:rPr sz="900" b="0">
                <a:solidFill>
                  <a:srgbClr val="78716C"/>
                </a:solidFill>
                <a:latin typeface="Calibri"/>
              </a:rPr>
              <a:t>Gonzaga Dental Clinic · 17 / 27</a:t>
            </a:r>
          </a:p>
        </p:txBody>
      </p:sp>
      <p:pic>
        <p:nvPicPr>
          <p:cNvPr id="6" name="Picture 5" descr="11-patient-allergy.png"/>
          <p:cNvPicPr>
            <a:picLocks noChangeAspect="1"/>
          </p:cNvPicPr>
          <p:nvPr/>
        </p:nvPicPr>
        <p:blipFill>
          <a:blip r:embed="rId2"/>
          <a:stretch>
            <a:fillRect/>
          </a:stretch>
        </p:blipFill>
        <p:spPr>
          <a:xfrm>
            <a:off x="1071770" y="1115568"/>
            <a:ext cx="4796756" cy="4160520"/>
          </a:xfrm>
          <a:prstGeom prst="rect">
            <a:avLst/>
          </a:prstGeom>
        </p:spPr>
      </p:pic>
      <p:sp>
        <p:nvSpPr>
          <p:cNvPr id="7" name="TextBox 6"/>
          <p:cNvSpPr txBox="1"/>
          <p:nvPr/>
        </p:nvSpPr>
        <p:spPr>
          <a:xfrm>
            <a:off x="6629400" y="1143000"/>
            <a:ext cx="5029200" cy="640080"/>
          </a:xfrm>
          <a:prstGeom prst="rect">
            <a:avLst/>
          </a:prstGeom>
          <a:noFill/>
        </p:spPr>
        <p:txBody>
          <a:bodyPr wrap="square">
            <a:spAutoFit/>
          </a:bodyPr>
          <a:lstStyle/>
          <a:p>
            <a:pPr algn="l">
              <a:spcAft>
                <a:spcPts val="0"/>
              </a:spcAft>
            </a:pPr>
            <a:r>
              <a:rPr sz="1250" b="0">
                <a:solidFill>
                  <a:srgbClr val="78716C"/>
                </a:solidFill>
                <a:latin typeface="Calibri"/>
              </a:rPr>
              <a:t>The same overview, chosen to show how risk is escalated.</a:t>
            </a:r>
          </a:p>
        </p:txBody>
      </p:sp>
      <p:sp>
        <p:nvSpPr>
          <p:cNvPr id="8" name="TextBox 7"/>
          <p:cNvSpPr txBox="1"/>
          <p:nvPr/>
        </p:nvSpPr>
        <p:spPr>
          <a:xfrm>
            <a:off x="6629400" y="1783080"/>
            <a:ext cx="5029200" cy="4206240"/>
          </a:xfrm>
          <a:prstGeom prst="rect">
            <a:avLst/>
          </a:prstGeom>
          <a:noFill/>
        </p:spPr>
        <p:txBody>
          <a:bodyPr wrap="square">
            <a:spAutoFit/>
          </a:bodyPr>
          <a:lstStyle/>
          <a:p>
            <a:pPr>
              <a:spcAft>
                <a:spcPts val="900"/>
              </a:spcAft>
            </a:pPr>
            <a:r>
              <a:rPr sz="1150">
                <a:solidFill>
                  <a:srgbClr val="1C1917"/>
                </a:solidFill>
                <a:latin typeface="Calibri"/>
              </a:rPr>
              <a:t>•  A patient with a recorded allergy is flagged prominently rather than left for the reader to notice.</a:t>
            </a:r>
          </a:p>
          <a:p>
            <a:pPr>
              <a:spcAft>
                <a:spcPts val="900"/>
              </a:spcAft>
            </a:pPr>
            <a:r>
              <a:rPr sz="1150">
                <a:solidFill>
                  <a:srgbClr val="1C1917"/>
                </a:solidFill>
                <a:latin typeface="Calibri"/>
              </a:rPr>
              <a:t>•  Escalation is visual and immediate because the cost of missing it is a medical incident.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566928" y="310896"/>
            <a:ext cx="8595360" cy="457200"/>
          </a:xfrm>
          <a:prstGeom prst="rect">
            <a:avLst/>
          </a:prstGeom>
          <a:noFill/>
        </p:spPr>
        <p:txBody>
          <a:bodyPr wrap="square">
            <a:spAutoFit/>
          </a:bodyPr>
          <a:lstStyle/>
          <a:p>
            <a:pPr algn="l">
              <a:spcAft>
                <a:spcPts val="0"/>
              </a:spcAft>
            </a:pPr>
            <a:r>
              <a:rPr sz="2400" b="1">
                <a:solidFill>
                  <a:srgbClr val="1C1917"/>
                </a:solidFill>
                <a:latin typeface="Calibri"/>
              </a:rPr>
              <a:t>Register patient</a:t>
            </a:r>
          </a:p>
        </p:txBody>
      </p:sp>
      <p:sp>
        <p:nvSpPr>
          <p:cNvPr id="3" name="TextBox 2"/>
          <p:cNvSpPr txBox="1"/>
          <p:nvPr/>
        </p:nvSpPr>
        <p:spPr>
          <a:xfrm>
            <a:off x="9521647" y="384048"/>
            <a:ext cx="2103120" cy="274320"/>
          </a:xfrm>
          <a:prstGeom prst="rect">
            <a:avLst/>
          </a:prstGeom>
          <a:noFill/>
        </p:spPr>
        <p:txBody>
          <a:bodyPr wrap="none">
            <a:spAutoFit/>
          </a:bodyPr>
          <a:lstStyle/>
          <a:p>
            <a:pPr algn="r"/>
            <a:r>
              <a:rPr sz="950" b="1">
                <a:solidFill>
                  <a:srgbClr val="78716C"/>
                </a:solidFill>
                <a:latin typeface="Calibri"/>
              </a:rPr>
              <a:t>ALL STAFF</a:t>
            </a:r>
          </a:p>
        </p:txBody>
      </p:sp>
      <p:sp>
        <p:nvSpPr>
          <p:cNvPr id="4" name="Rectangle 3"/>
          <p:cNvSpPr/>
          <p:nvPr/>
        </p:nvSpPr>
        <p:spPr>
          <a:xfrm>
            <a:off x="566928" y="841248"/>
            <a:ext cx="11057839" cy="254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382512"/>
            <a:ext cx="3657600" cy="274320"/>
          </a:xfrm>
          <a:prstGeom prst="rect">
            <a:avLst/>
          </a:prstGeom>
          <a:noFill/>
        </p:spPr>
        <p:txBody>
          <a:bodyPr wrap="square">
            <a:spAutoFit/>
          </a:bodyPr>
          <a:lstStyle/>
          <a:p>
            <a:pPr algn="l">
              <a:spcAft>
                <a:spcPts val="0"/>
              </a:spcAft>
            </a:pPr>
            <a:r>
              <a:rPr sz="900" b="0">
                <a:solidFill>
                  <a:srgbClr val="78716C"/>
                </a:solidFill>
                <a:latin typeface="Calibri"/>
              </a:rPr>
              <a:t>Gonzaga Dental Clinic · 18 / 27</a:t>
            </a:r>
          </a:p>
        </p:txBody>
      </p:sp>
      <p:pic>
        <p:nvPicPr>
          <p:cNvPr id="6" name="Picture 5" descr="12-register-patient.png"/>
          <p:cNvPicPr>
            <a:picLocks noChangeAspect="1"/>
          </p:cNvPicPr>
          <p:nvPr/>
        </p:nvPicPr>
        <p:blipFill>
          <a:blip r:embed="rId2"/>
          <a:stretch>
            <a:fillRect/>
          </a:stretch>
        </p:blipFill>
        <p:spPr>
          <a:xfrm>
            <a:off x="1533772" y="1115568"/>
            <a:ext cx="3872752" cy="4160520"/>
          </a:xfrm>
          <a:prstGeom prst="rect">
            <a:avLst/>
          </a:prstGeom>
        </p:spPr>
      </p:pic>
      <p:sp>
        <p:nvSpPr>
          <p:cNvPr id="7" name="TextBox 6"/>
          <p:cNvSpPr txBox="1"/>
          <p:nvPr/>
        </p:nvSpPr>
        <p:spPr>
          <a:xfrm>
            <a:off x="6629400" y="1143000"/>
            <a:ext cx="5029200" cy="640080"/>
          </a:xfrm>
          <a:prstGeom prst="rect">
            <a:avLst/>
          </a:prstGeom>
          <a:noFill/>
        </p:spPr>
        <p:txBody>
          <a:bodyPr wrap="square">
            <a:spAutoFit/>
          </a:bodyPr>
          <a:lstStyle/>
          <a:p>
            <a:pPr algn="l">
              <a:spcAft>
                <a:spcPts val="0"/>
              </a:spcAft>
            </a:pPr>
            <a:r>
              <a:rPr sz="1250" b="0">
                <a:solidFill>
                  <a:srgbClr val="78716C"/>
                </a:solidFill>
                <a:latin typeface="Calibri"/>
              </a:rPr>
              <a:t>Digital intake, replacing the paper front-desk form.</a:t>
            </a:r>
          </a:p>
        </p:txBody>
      </p:sp>
      <p:sp>
        <p:nvSpPr>
          <p:cNvPr id="8" name="TextBox 7"/>
          <p:cNvSpPr txBox="1"/>
          <p:nvPr/>
        </p:nvSpPr>
        <p:spPr>
          <a:xfrm>
            <a:off x="6629400" y="1783080"/>
            <a:ext cx="5029200" cy="4206240"/>
          </a:xfrm>
          <a:prstGeom prst="rect">
            <a:avLst/>
          </a:prstGeom>
          <a:noFill/>
        </p:spPr>
        <p:txBody>
          <a:bodyPr wrap="square">
            <a:spAutoFit/>
          </a:bodyPr>
          <a:lstStyle/>
          <a:p>
            <a:pPr>
              <a:spcAft>
                <a:spcPts val="900"/>
              </a:spcAft>
            </a:pPr>
            <a:r>
              <a:rPr sz="1150">
                <a:solidFill>
                  <a:srgbClr val="1C1917"/>
                </a:solidFill>
                <a:latin typeface="Calibri"/>
              </a:rPr>
              <a:t>•  Field-level validation messages appear next to the field that failed.</a:t>
            </a:r>
          </a:p>
          <a:p>
            <a:pPr>
              <a:spcAft>
                <a:spcPts val="900"/>
              </a:spcAft>
            </a:pPr>
            <a:r>
              <a:rPr sz="1150">
                <a:solidFill>
                  <a:srgbClr val="1C1917"/>
                </a:solidFill>
                <a:latin typeface="Calibri"/>
              </a:rPr>
              <a:t>•  A birthdate is optional. Blank means unknown, which is different from a wrong date, so it is never guessed.</a:t>
            </a:r>
          </a:p>
          <a:p>
            <a:pPr>
              <a:spcAft>
                <a:spcPts val="900"/>
              </a:spcAft>
            </a:pPr>
            <a:r>
              <a:rPr sz="1150">
                <a:solidFill>
                  <a:srgbClr val="1C1917"/>
                </a:solidFill>
                <a:latin typeface="Calibri"/>
              </a:rPr>
              <a:t>•  On a likely duplicate match the form pauses for explicit acknowledgement rather than creating a second record silently.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566928" y="310896"/>
            <a:ext cx="8595360" cy="457200"/>
          </a:xfrm>
          <a:prstGeom prst="rect">
            <a:avLst/>
          </a:prstGeom>
          <a:noFill/>
        </p:spPr>
        <p:txBody>
          <a:bodyPr wrap="square">
            <a:spAutoFit/>
          </a:bodyPr>
          <a:lstStyle/>
          <a:p>
            <a:pPr algn="l">
              <a:spcAft>
                <a:spcPts val="0"/>
              </a:spcAft>
            </a:pPr>
            <a:r>
              <a:rPr sz="2400" b="1">
                <a:solidFill>
                  <a:srgbClr val="1C1917"/>
                </a:solidFill>
                <a:latin typeface="Calibri"/>
              </a:rPr>
              <a:t>Appointments</a:t>
            </a:r>
          </a:p>
        </p:txBody>
      </p:sp>
      <p:sp>
        <p:nvSpPr>
          <p:cNvPr id="3" name="TextBox 2"/>
          <p:cNvSpPr txBox="1"/>
          <p:nvPr/>
        </p:nvSpPr>
        <p:spPr>
          <a:xfrm>
            <a:off x="9521647" y="384048"/>
            <a:ext cx="2103120" cy="274320"/>
          </a:xfrm>
          <a:prstGeom prst="rect">
            <a:avLst/>
          </a:prstGeom>
          <a:noFill/>
        </p:spPr>
        <p:txBody>
          <a:bodyPr wrap="none">
            <a:spAutoFit/>
          </a:bodyPr>
          <a:lstStyle/>
          <a:p>
            <a:pPr algn="r"/>
            <a:r>
              <a:rPr sz="950" b="1">
                <a:solidFill>
                  <a:srgbClr val="78716C"/>
                </a:solidFill>
                <a:latin typeface="Calibri"/>
              </a:rPr>
              <a:t>ALL STAFF</a:t>
            </a:r>
          </a:p>
        </p:txBody>
      </p:sp>
      <p:sp>
        <p:nvSpPr>
          <p:cNvPr id="4" name="Rectangle 3"/>
          <p:cNvSpPr/>
          <p:nvPr/>
        </p:nvSpPr>
        <p:spPr>
          <a:xfrm>
            <a:off x="566928" y="841248"/>
            <a:ext cx="11057839" cy="254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382512"/>
            <a:ext cx="3657600" cy="274320"/>
          </a:xfrm>
          <a:prstGeom prst="rect">
            <a:avLst/>
          </a:prstGeom>
          <a:noFill/>
        </p:spPr>
        <p:txBody>
          <a:bodyPr wrap="square">
            <a:spAutoFit/>
          </a:bodyPr>
          <a:lstStyle/>
          <a:p>
            <a:pPr algn="l">
              <a:spcAft>
                <a:spcPts val="0"/>
              </a:spcAft>
            </a:pPr>
            <a:r>
              <a:rPr sz="900" b="0">
                <a:solidFill>
                  <a:srgbClr val="78716C"/>
                </a:solidFill>
                <a:latin typeface="Calibri"/>
              </a:rPr>
              <a:t>Gonzaga Dental Clinic · 19 / 27</a:t>
            </a:r>
          </a:p>
        </p:txBody>
      </p:sp>
      <p:pic>
        <p:nvPicPr>
          <p:cNvPr id="6" name="Picture 5" descr="13-appointments.png"/>
          <p:cNvPicPr>
            <a:picLocks noChangeAspect="1"/>
          </p:cNvPicPr>
          <p:nvPr/>
        </p:nvPicPr>
        <p:blipFill>
          <a:blip r:embed="rId2"/>
          <a:stretch>
            <a:fillRect/>
          </a:stretch>
        </p:blipFill>
        <p:spPr>
          <a:xfrm>
            <a:off x="1151592" y="1115568"/>
            <a:ext cx="4637112" cy="4160520"/>
          </a:xfrm>
          <a:prstGeom prst="rect">
            <a:avLst/>
          </a:prstGeom>
        </p:spPr>
      </p:pic>
      <p:sp>
        <p:nvSpPr>
          <p:cNvPr id="7" name="TextBox 6"/>
          <p:cNvSpPr txBox="1"/>
          <p:nvPr/>
        </p:nvSpPr>
        <p:spPr>
          <a:xfrm>
            <a:off x="6629400" y="1143000"/>
            <a:ext cx="5029200" cy="640080"/>
          </a:xfrm>
          <a:prstGeom prst="rect">
            <a:avLst/>
          </a:prstGeom>
          <a:noFill/>
        </p:spPr>
        <p:txBody>
          <a:bodyPr wrap="square">
            <a:spAutoFit/>
          </a:bodyPr>
          <a:lstStyle/>
          <a:p>
            <a:pPr algn="l">
              <a:spcAft>
                <a:spcPts val="0"/>
              </a:spcAft>
            </a:pPr>
            <a:r>
              <a:rPr sz="1250" b="0">
                <a:solidFill>
                  <a:srgbClr val="78716C"/>
                </a:solidFill>
                <a:latin typeface="Calibri"/>
              </a:rPr>
              <a:t>The shared clinic schedule across branches.</a:t>
            </a:r>
          </a:p>
        </p:txBody>
      </p:sp>
      <p:sp>
        <p:nvSpPr>
          <p:cNvPr id="8" name="TextBox 7"/>
          <p:cNvSpPr txBox="1"/>
          <p:nvPr/>
        </p:nvSpPr>
        <p:spPr>
          <a:xfrm>
            <a:off x="6629400" y="1783080"/>
            <a:ext cx="5029200" cy="4206240"/>
          </a:xfrm>
          <a:prstGeom prst="rect">
            <a:avLst/>
          </a:prstGeom>
          <a:noFill/>
        </p:spPr>
        <p:txBody>
          <a:bodyPr wrap="square">
            <a:spAutoFit/>
          </a:bodyPr>
          <a:lstStyle/>
          <a:p>
            <a:pPr>
              <a:spcAft>
                <a:spcPts val="900"/>
              </a:spcAft>
            </a:pPr>
            <a:r>
              <a:rPr sz="1150">
                <a:solidFill>
                  <a:srgbClr val="1C1917"/>
                </a:solidFill>
                <a:latin typeface="Calibri"/>
              </a:rPr>
              <a:t>•  A month grid with per-day volume dots gives an overview before drilling into a day.</a:t>
            </a:r>
          </a:p>
          <a:p>
            <a:pPr>
              <a:spcAft>
                <a:spcPts val="900"/>
              </a:spcAft>
            </a:pPr>
            <a:r>
              <a:rPr sz="1150">
                <a:solidFill>
                  <a:srgbClr val="1C1917"/>
                </a:solidFill>
                <a:latin typeface="Calibri"/>
              </a:rPr>
              <a:t>•  The day view can be filtered by branch, and is labelled by branch to keep 'your branch' distinct from the clinic-wide record.</a:t>
            </a:r>
          </a:p>
          <a:p>
            <a:pPr>
              <a:spcAft>
                <a:spcPts val="900"/>
              </a:spcAft>
            </a:pPr>
            <a:r>
              <a:rPr sz="1150">
                <a:solidFill>
                  <a:srgbClr val="1C1917"/>
                </a:solidFill>
                <a:latin typeface="Calibri"/>
              </a:rPr>
              <a:t>•  The day list opens with a count of how many patients are still to be seen, so progress is readable without counting rows.</a:t>
            </a:r>
          </a:p>
          <a:p>
            <a:pPr>
              <a:spcAft>
                <a:spcPts val="900"/>
              </a:spcAft>
            </a:pPr>
            <a:r>
              <a:rPr sz="1150">
                <a:solidFill>
                  <a:srgbClr val="1C1917"/>
                </a:solidFill>
                <a:latin typeface="Calibri"/>
              </a:rPr>
              <a:t>•  The transition a secretary repeats all morning — check in, then complete — is a single labelled button on each row rather than an item in a dropdown. Anything else stays available under 'More'.</a:t>
            </a:r>
          </a:p>
          <a:p>
            <a:pPr>
              <a:spcAft>
                <a:spcPts val="900"/>
              </a:spcAft>
            </a:pPr>
            <a:r>
              <a:rPr sz="1150">
                <a:solidFill>
                  <a:srgbClr val="1C1917"/>
                </a:solidFill>
                <a:latin typeface="Calibri"/>
              </a:rPr>
              <a:t>•  Only the row being saved is disabled while it saves, so one slow request does not freeze the rest of the waiting room.</a:t>
            </a:r>
          </a:p>
          <a:p>
            <a:pPr>
              <a:spcAft>
                <a:spcPts val="900"/>
              </a:spcAft>
            </a:pPr>
            <a:r>
              <a:rPr sz="1150">
                <a:solidFill>
                  <a:srgbClr val="1C1917"/>
                </a:solidFill>
                <a:latin typeface="Calibri"/>
              </a:rPr>
              <a:t>•  The branch filter and its Apply control are both full-size touch targets for tablet use at the front desk.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566928" y="310896"/>
            <a:ext cx="8595360" cy="457200"/>
          </a:xfrm>
          <a:prstGeom prst="rect">
            <a:avLst/>
          </a:prstGeom>
          <a:noFill/>
        </p:spPr>
        <p:txBody>
          <a:bodyPr wrap="square">
            <a:spAutoFit/>
          </a:bodyPr>
          <a:lstStyle/>
          <a:p>
            <a:pPr algn="l">
              <a:spcAft>
                <a:spcPts val="0"/>
              </a:spcAft>
            </a:pPr>
            <a:r>
              <a:rPr sz="2400" b="1">
                <a:solidFill>
                  <a:srgbClr val="1C1917"/>
                </a:solidFill>
                <a:latin typeface="Calibri"/>
              </a:rPr>
              <a:t>Staff</a:t>
            </a:r>
          </a:p>
        </p:txBody>
      </p:sp>
      <p:sp>
        <p:nvSpPr>
          <p:cNvPr id="3" name="TextBox 2"/>
          <p:cNvSpPr txBox="1"/>
          <p:nvPr/>
        </p:nvSpPr>
        <p:spPr>
          <a:xfrm>
            <a:off x="9521647" y="384048"/>
            <a:ext cx="2103120" cy="274320"/>
          </a:xfrm>
          <a:prstGeom prst="rect">
            <a:avLst/>
          </a:prstGeom>
          <a:noFill/>
        </p:spPr>
        <p:txBody>
          <a:bodyPr wrap="none">
            <a:spAutoFit/>
          </a:bodyPr>
          <a:lstStyle/>
          <a:p>
            <a:pPr algn="r"/>
            <a:r>
              <a:rPr sz="950" b="1">
                <a:solidFill>
                  <a:srgbClr val="78716C"/>
                </a:solidFill>
                <a:latin typeface="Calibri"/>
              </a:rPr>
              <a:t>ADMIN ONLY</a:t>
            </a:r>
          </a:p>
        </p:txBody>
      </p:sp>
      <p:sp>
        <p:nvSpPr>
          <p:cNvPr id="4" name="Rectangle 3"/>
          <p:cNvSpPr/>
          <p:nvPr/>
        </p:nvSpPr>
        <p:spPr>
          <a:xfrm>
            <a:off x="566928" y="841248"/>
            <a:ext cx="11057839" cy="254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382512"/>
            <a:ext cx="3657600" cy="274320"/>
          </a:xfrm>
          <a:prstGeom prst="rect">
            <a:avLst/>
          </a:prstGeom>
          <a:noFill/>
        </p:spPr>
        <p:txBody>
          <a:bodyPr wrap="square">
            <a:spAutoFit/>
          </a:bodyPr>
          <a:lstStyle/>
          <a:p>
            <a:pPr algn="l">
              <a:spcAft>
                <a:spcPts val="0"/>
              </a:spcAft>
            </a:pPr>
            <a:r>
              <a:rPr sz="900" b="0">
                <a:solidFill>
                  <a:srgbClr val="78716C"/>
                </a:solidFill>
                <a:latin typeface="Calibri"/>
              </a:rPr>
              <a:t>Gonzaga Dental Clinic · 20 / 27</a:t>
            </a:r>
          </a:p>
        </p:txBody>
      </p:sp>
      <p:pic>
        <p:nvPicPr>
          <p:cNvPr id="6" name="Picture 5" descr="14-staff.png"/>
          <p:cNvPicPr>
            <a:picLocks noChangeAspect="1"/>
          </p:cNvPicPr>
          <p:nvPr/>
        </p:nvPicPr>
        <p:blipFill>
          <a:blip r:embed="rId2"/>
          <a:stretch>
            <a:fillRect/>
          </a:stretch>
        </p:blipFill>
        <p:spPr>
          <a:xfrm>
            <a:off x="1592045" y="1115568"/>
            <a:ext cx="3756206" cy="4160520"/>
          </a:xfrm>
          <a:prstGeom prst="rect">
            <a:avLst/>
          </a:prstGeom>
        </p:spPr>
      </p:pic>
      <p:sp>
        <p:nvSpPr>
          <p:cNvPr id="7" name="TextBox 6"/>
          <p:cNvSpPr txBox="1"/>
          <p:nvPr/>
        </p:nvSpPr>
        <p:spPr>
          <a:xfrm>
            <a:off x="6629400" y="1143000"/>
            <a:ext cx="5029200" cy="640080"/>
          </a:xfrm>
          <a:prstGeom prst="rect">
            <a:avLst/>
          </a:prstGeom>
          <a:noFill/>
        </p:spPr>
        <p:txBody>
          <a:bodyPr wrap="square">
            <a:spAutoFit/>
          </a:bodyPr>
          <a:lstStyle/>
          <a:p>
            <a:pPr algn="l">
              <a:spcAft>
                <a:spcPts val="0"/>
              </a:spcAft>
            </a:pPr>
            <a:r>
              <a:rPr sz="1250" b="0">
                <a:solidFill>
                  <a:srgbClr val="78716C"/>
                </a:solidFill>
                <a:latin typeface="Calibri"/>
              </a:rPr>
              <a:t>Staff accounts and roles. Admin only.</a:t>
            </a:r>
          </a:p>
        </p:txBody>
      </p:sp>
      <p:sp>
        <p:nvSpPr>
          <p:cNvPr id="8" name="TextBox 7"/>
          <p:cNvSpPr txBox="1"/>
          <p:nvPr/>
        </p:nvSpPr>
        <p:spPr>
          <a:xfrm>
            <a:off x="6629400" y="1783080"/>
            <a:ext cx="5029200" cy="4206240"/>
          </a:xfrm>
          <a:prstGeom prst="rect">
            <a:avLst/>
          </a:prstGeom>
          <a:noFill/>
        </p:spPr>
        <p:txBody>
          <a:bodyPr wrap="square">
            <a:spAutoFit/>
          </a:bodyPr>
          <a:lstStyle/>
          <a:p>
            <a:pPr>
              <a:spcAft>
                <a:spcPts val="900"/>
              </a:spcAft>
            </a:pPr>
            <a:r>
              <a:rPr sz="1150">
                <a:solidFill>
                  <a:srgbClr val="1C1917"/>
                </a:solidFill>
                <a:latin typeface="Calibri"/>
              </a:rPr>
              <a:t>•  Three roles: dentist, secretary, admin. Permissions are enforced by row-level security in the database, not by hiding buttons.</a:t>
            </a:r>
          </a:p>
          <a:p>
            <a:pPr>
              <a:spcAft>
                <a:spcPts val="900"/>
              </a:spcAft>
            </a:pPr>
            <a:r>
              <a:rPr sz="1150">
                <a:solidFill>
                  <a:srgbClr val="1C1917"/>
                </a:solidFill>
                <a:latin typeface="Calibri"/>
              </a:rPr>
              <a:t>•  The most recently created accounts are listed first so a new hire is easy to verify.</a:t>
            </a:r>
          </a:p>
          <a:p>
            <a:pPr>
              <a:spcAft>
                <a:spcPts val="900"/>
              </a:spcAft>
            </a:pPr>
            <a:r>
              <a:rPr sz="1150">
                <a:solidFill>
                  <a:srgbClr val="1C1917"/>
                </a:solidFill>
                <a:latin typeface="Calibri"/>
              </a:rPr>
              <a:t>•  An admin cannot deactivate their own account, which prevents locking the clinic out of its own system.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566928" y="310896"/>
            <a:ext cx="8595360" cy="457200"/>
          </a:xfrm>
          <a:prstGeom prst="rect">
            <a:avLst/>
          </a:prstGeom>
          <a:noFill/>
        </p:spPr>
        <p:txBody>
          <a:bodyPr wrap="square">
            <a:spAutoFit/>
          </a:bodyPr>
          <a:lstStyle/>
          <a:p>
            <a:pPr algn="l">
              <a:spcAft>
                <a:spcPts val="0"/>
              </a:spcAft>
            </a:pPr>
            <a:r>
              <a:rPr sz="2400" b="1">
                <a:solidFill>
                  <a:srgbClr val="1C1917"/>
                </a:solidFill>
                <a:latin typeface="Calibri"/>
              </a:rPr>
              <a:t>Audit log</a:t>
            </a:r>
          </a:p>
        </p:txBody>
      </p:sp>
      <p:sp>
        <p:nvSpPr>
          <p:cNvPr id="3" name="TextBox 2"/>
          <p:cNvSpPr txBox="1"/>
          <p:nvPr/>
        </p:nvSpPr>
        <p:spPr>
          <a:xfrm>
            <a:off x="9521647" y="384048"/>
            <a:ext cx="2103120" cy="274320"/>
          </a:xfrm>
          <a:prstGeom prst="rect">
            <a:avLst/>
          </a:prstGeom>
          <a:noFill/>
        </p:spPr>
        <p:txBody>
          <a:bodyPr wrap="none">
            <a:spAutoFit/>
          </a:bodyPr>
          <a:lstStyle/>
          <a:p>
            <a:pPr algn="r"/>
            <a:r>
              <a:rPr sz="950" b="1">
                <a:solidFill>
                  <a:srgbClr val="78716C"/>
                </a:solidFill>
                <a:latin typeface="Calibri"/>
              </a:rPr>
              <a:t>ADMIN ONLY</a:t>
            </a:r>
          </a:p>
        </p:txBody>
      </p:sp>
      <p:sp>
        <p:nvSpPr>
          <p:cNvPr id="4" name="Rectangle 3"/>
          <p:cNvSpPr/>
          <p:nvPr/>
        </p:nvSpPr>
        <p:spPr>
          <a:xfrm>
            <a:off x="566928" y="841248"/>
            <a:ext cx="11057839" cy="254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382512"/>
            <a:ext cx="3657600" cy="274320"/>
          </a:xfrm>
          <a:prstGeom prst="rect">
            <a:avLst/>
          </a:prstGeom>
          <a:noFill/>
        </p:spPr>
        <p:txBody>
          <a:bodyPr wrap="square">
            <a:spAutoFit/>
          </a:bodyPr>
          <a:lstStyle/>
          <a:p>
            <a:pPr algn="l">
              <a:spcAft>
                <a:spcPts val="0"/>
              </a:spcAft>
            </a:pPr>
            <a:r>
              <a:rPr sz="900" b="0">
                <a:solidFill>
                  <a:srgbClr val="78716C"/>
                </a:solidFill>
                <a:latin typeface="Calibri"/>
              </a:rPr>
              <a:t>Gonzaga Dental Clinic · 21 / 27</a:t>
            </a:r>
          </a:p>
        </p:txBody>
      </p:sp>
      <p:pic>
        <p:nvPicPr>
          <p:cNvPr id="6" name="Picture 5" descr="15-audit-log.png"/>
          <p:cNvPicPr>
            <a:picLocks noChangeAspect="1"/>
          </p:cNvPicPr>
          <p:nvPr/>
        </p:nvPicPr>
        <p:blipFill>
          <a:blip r:embed="rId2"/>
          <a:stretch>
            <a:fillRect/>
          </a:stretch>
        </p:blipFill>
        <p:spPr>
          <a:xfrm>
            <a:off x="1324321" y="1115568"/>
            <a:ext cx="4291653" cy="4160520"/>
          </a:xfrm>
          <a:prstGeom prst="rect">
            <a:avLst/>
          </a:prstGeom>
        </p:spPr>
      </p:pic>
      <p:sp>
        <p:nvSpPr>
          <p:cNvPr id="7" name="TextBox 6"/>
          <p:cNvSpPr txBox="1"/>
          <p:nvPr/>
        </p:nvSpPr>
        <p:spPr>
          <a:xfrm>
            <a:off x="6629400" y="1143000"/>
            <a:ext cx="5029200" cy="640080"/>
          </a:xfrm>
          <a:prstGeom prst="rect">
            <a:avLst/>
          </a:prstGeom>
          <a:noFill/>
        </p:spPr>
        <p:txBody>
          <a:bodyPr wrap="square">
            <a:spAutoFit/>
          </a:bodyPr>
          <a:lstStyle/>
          <a:p>
            <a:pPr algn="l">
              <a:spcAft>
                <a:spcPts val="0"/>
              </a:spcAft>
            </a:pPr>
            <a:r>
              <a:rPr sz="1250" b="0">
                <a:solidFill>
                  <a:srgbClr val="78716C"/>
                </a:solidFill>
                <a:latin typeface="Calibri"/>
              </a:rPr>
              <a:t>Append-only record of access and changes. Admin only.</a:t>
            </a:r>
          </a:p>
        </p:txBody>
      </p:sp>
      <p:sp>
        <p:nvSpPr>
          <p:cNvPr id="8" name="TextBox 7"/>
          <p:cNvSpPr txBox="1"/>
          <p:nvPr/>
        </p:nvSpPr>
        <p:spPr>
          <a:xfrm>
            <a:off x="6629400" y="1783080"/>
            <a:ext cx="5029200" cy="4206240"/>
          </a:xfrm>
          <a:prstGeom prst="rect">
            <a:avLst/>
          </a:prstGeom>
          <a:noFill/>
        </p:spPr>
        <p:txBody>
          <a:bodyPr wrap="square">
            <a:spAutoFit/>
          </a:bodyPr>
          <a:lstStyle/>
          <a:p>
            <a:pPr>
              <a:spcAft>
                <a:spcPts val="900"/>
              </a:spcAft>
            </a:pPr>
            <a:r>
              <a:rPr sz="1150">
                <a:solidFill>
                  <a:srgbClr val="1C1917"/>
                </a:solidFill>
                <a:latin typeface="Calibri"/>
              </a:rPr>
              <a:t>•  Every read and write of patient data is recorded, because the system holds identifiable health information.</a:t>
            </a:r>
          </a:p>
          <a:p>
            <a:pPr>
              <a:spcAft>
                <a:spcPts val="900"/>
              </a:spcAft>
            </a:pPr>
            <a:r>
              <a:rPr sz="1150">
                <a:solidFill>
                  <a:srgbClr val="1C1917"/>
                </a:solidFill>
                <a:latin typeface="Calibri"/>
              </a:rPr>
              <a:t>•  Rows link to the record they describe, turning a log line into a starting point for investigation.</a:t>
            </a:r>
          </a:p>
          <a:p>
            <a:pPr>
              <a:spcAft>
                <a:spcPts val="900"/>
              </a:spcAft>
            </a:pPr>
            <a:r>
              <a:rPr sz="1150">
                <a:solidFill>
                  <a:srgbClr val="1C1917"/>
                </a:solidFill>
                <a:latin typeface="Calibri"/>
              </a:rPr>
              <a:t>•  The log is append-only: there is no edit or delete affordance anywhere in the interface.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566928" y="310896"/>
            <a:ext cx="8595360" cy="457200"/>
          </a:xfrm>
          <a:prstGeom prst="rect">
            <a:avLst/>
          </a:prstGeom>
          <a:noFill/>
        </p:spPr>
        <p:txBody>
          <a:bodyPr wrap="square">
            <a:spAutoFit/>
          </a:bodyPr>
          <a:lstStyle/>
          <a:p>
            <a:pPr algn="l">
              <a:spcAft>
                <a:spcPts val="0"/>
              </a:spcAft>
            </a:pPr>
            <a:r>
              <a:rPr sz="2400" b="1">
                <a:solidFill>
                  <a:srgbClr val="1C1917"/>
                </a:solidFill>
                <a:latin typeface="Calibri"/>
              </a:rPr>
              <a:t>Backups</a:t>
            </a:r>
          </a:p>
        </p:txBody>
      </p:sp>
      <p:sp>
        <p:nvSpPr>
          <p:cNvPr id="3" name="TextBox 2"/>
          <p:cNvSpPr txBox="1"/>
          <p:nvPr/>
        </p:nvSpPr>
        <p:spPr>
          <a:xfrm>
            <a:off x="9521647" y="384048"/>
            <a:ext cx="2103120" cy="274320"/>
          </a:xfrm>
          <a:prstGeom prst="rect">
            <a:avLst/>
          </a:prstGeom>
          <a:noFill/>
        </p:spPr>
        <p:txBody>
          <a:bodyPr wrap="none">
            <a:spAutoFit/>
          </a:bodyPr>
          <a:lstStyle/>
          <a:p>
            <a:pPr algn="r"/>
            <a:r>
              <a:rPr sz="950" b="1">
                <a:solidFill>
                  <a:srgbClr val="78716C"/>
                </a:solidFill>
                <a:latin typeface="Calibri"/>
              </a:rPr>
              <a:t>ADMIN ONLY</a:t>
            </a:r>
          </a:p>
        </p:txBody>
      </p:sp>
      <p:sp>
        <p:nvSpPr>
          <p:cNvPr id="4" name="Rectangle 3"/>
          <p:cNvSpPr/>
          <p:nvPr/>
        </p:nvSpPr>
        <p:spPr>
          <a:xfrm>
            <a:off x="566928" y="841248"/>
            <a:ext cx="11057839" cy="254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382512"/>
            <a:ext cx="3657600" cy="274320"/>
          </a:xfrm>
          <a:prstGeom prst="rect">
            <a:avLst/>
          </a:prstGeom>
          <a:noFill/>
        </p:spPr>
        <p:txBody>
          <a:bodyPr wrap="square">
            <a:spAutoFit/>
          </a:bodyPr>
          <a:lstStyle/>
          <a:p>
            <a:pPr algn="l">
              <a:spcAft>
                <a:spcPts val="0"/>
              </a:spcAft>
            </a:pPr>
            <a:r>
              <a:rPr sz="900" b="0">
                <a:solidFill>
                  <a:srgbClr val="78716C"/>
                </a:solidFill>
                <a:latin typeface="Calibri"/>
              </a:rPr>
              <a:t>Gonzaga Dental Clinic · 22 / 27</a:t>
            </a:r>
          </a:p>
        </p:txBody>
      </p:sp>
      <p:pic>
        <p:nvPicPr>
          <p:cNvPr id="6" name="Picture 5" descr="16-backups.png"/>
          <p:cNvPicPr>
            <a:picLocks noChangeAspect="1"/>
          </p:cNvPicPr>
          <p:nvPr/>
        </p:nvPicPr>
        <p:blipFill>
          <a:blip r:embed="rId2"/>
          <a:stretch>
            <a:fillRect/>
          </a:stretch>
        </p:blipFill>
        <p:spPr>
          <a:xfrm>
            <a:off x="952859" y="1115568"/>
            <a:ext cx="5034578" cy="4160519"/>
          </a:xfrm>
          <a:prstGeom prst="rect">
            <a:avLst/>
          </a:prstGeom>
        </p:spPr>
      </p:pic>
      <p:sp>
        <p:nvSpPr>
          <p:cNvPr id="7" name="TextBox 6"/>
          <p:cNvSpPr txBox="1"/>
          <p:nvPr/>
        </p:nvSpPr>
        <p:spPr>
          <a:xfrm>
            <a:off x="6629400" y="1143000"/>
            <a:ext cx="5029200" cy="640080"/>
          </a:xfrm>
          <a:prstGeom prst="rect">
            <a:avLst/>
          </a:prstGeom>
          <a:noFill/>
        </p:spPr>
        <p:txBody>
          <a:bodyPr wrap="square">
            <a:spAutoFit/>
          </a:bodyPr>
          <a:lstStyle/>
          <a:p>
            <a:pPr algn="l">
              <a:spcAft>
                <a:spcPts val="0"/>
              </a:spcAft>
            </a:pPr>
            <a:r>
              <a:rPr sz="1250" b="0">
                <a:solidFill>
                  <a:srgbClr val="78716C"/>
                </a:solidFill>
                <a:latin typeface="Calibri"/>
              </a:rPr>
              <a:t>Backup and export activity. Admin only.</a:t>
            </a:r>
          </a:p>
        </p:txBody>
      </p:sp>
      <p:sp>
        <p:nvSpPr>
          <p:cNvPr id="8" name="TextBox 7"/>
          <p:cNvSpPr txBox="1"/>
          <p:nvPr/>
        </p:nvSpPr>
        <p:spPr>
          <a:xfrm>
            <a:off x="6629400" y="1783080"/>
            <a:ext cx="5029200" cy="4206240"/>
          </a:xfrm>
          <a:prstGeom prst="rect">
            <a:avLst/>
          </a:prstGeom>
          <a:noFill/>
        </p:spPr>
        <p:txBody>
          <a:bodyPr wrap="square">
            <a:spAutoFit/>
          </a:bodyPr>
          <a:lstStyle/>
          <a:p>
            <a:pPr>
              <a:spcAft>
                <a:spcPts val="900"/>
              </a:spcAft>
            </a:pPr>
            <a:r>
              <a:rPr sz="1150">
                <a:solidFill>
                  <a:srgbClr val="1C1917"/>
                </a:solidFill>
                <a:latin typeface="Calibri"/>
              </a:rPr>
              <a:t>•  A clinic holding patient records needs a recoverable copy and a way to take one deliberately.</a:t>
            </a:r>
          </a:p>
          <a:p>
            <a:pPr>
              <a:spcAft>
                <a:spcPts val="900"/>
              </a:spcAft>
            </a:pPr>
            <a:r>
              <a:rPr sz="1150">
                <a:solidFill>
                  <a:srgbClr val="1C1917"/>
                </a:solidFill>
                <a:latin typeface="Calibri"/>
              </a:rPr>
              <a:t>•  The log records what was exported, by whom and when, so leaving the building with a backup is itself traceable.</a:t>
            </a:r>
          </a:p>
          <a:p>
            <a:pPr>
              <a:spcAft>
                <a:spcPts val="900"/>
              </a:spcAft>
            </a:pPr>
            <a:r>
              <a:rPr sz="1150">
                <a:solidFill>
                  <a:srgbClr val="1C1917"/>
                </a:solidFill>
                <a:latin typeface="Calibri"/>
              </a:rPr>
              <a:t>•  Real scheduled backups are a deployment decision and are not automated by this application.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566928" y="310896"/>
            <a:ext cx="8595360" cy="457200"/>
          </a:xfrm>
          <a:prstGeom prst="rect">
            <a:avLst/>
          </a:prstGeom>
          <a:noFill/>
        </p:spPr>
        <p:txBody>
          <a:bodyPr wrap="square">
            <a:spAutoFit/>
          </a:bodyPr>
          <a:lstStyle/>
          <a:p>
            <a:pPr algn="l">
              <a:spcAft>
                <a:spcPts val="0"/>
              </a:spcAft>
            </a:pPr>
            <a:r>
              <a:rPr sz="2400" b="1">
                <a:solidFill>
                  <a:srgbClr val="1C1917"/>
                </a:solidFill>
                <a:latin typeface="Calibri"/>
              </a:rPr>
              <a:t>Mobile: dashboard</a:t>
            </a:r>
          </a:p>
        </p:txBody>
      </p:sp>
      <p:sp>
        <p:nvSpPr>
          <p:cNvPr id="3" name="TextBox 2"/>
          <p:cNvSpPr txBox="1"/>
          <p:nvPr/>
        </p:nvSpPr>
        <p:spPr>
          <a:xfrm>
            <a:off x="9521647" y="384048"/>
            <a:ext cx="2103120" cy="274320"/>
          </a:xfrm>
          <a:prstGeom prst="rect">
            <a:avLst/>
          </a:prstGeom>
          <a:noFill/>
        </p:spPr>
        <p:txBody>
          <a:bodyPr wrap="none">
            <a:spAutoFit/>
          </a:bodyPr>
          <a:lstStyle/>
          <a:p>
            <a:pPr algn="r"/>
            <a:r>
              <a:rPr sz="950" b="1">
                <a:solidFill>
                  <a:srgbClr val="78716C"/>
                </a:solidFill>
                <a:latin typeface="Calibri"/>
              </a:rPr>
              <a:t>ALL STAFF</a:t>
            </a:r>
          </a:p>
        </p:txBody>
      </p:sp>
      <p:sp>
        <p:nvSpPr>
          <p:cNvPr id="4" name="Rectangle 3"/>
          <p:cNvSpPr/>
          <p:nvPr/>
        </p:nvSpPr>
        <p:spPr>
          <a:xfrm>
            <a:off x="566928" y="841248"/>
            <a:ext cx="11057839" cy="254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382512"/>
            <a:ext cx="3657600" cy="274320"/>
          </a:xfrm>
          <a:prstGeom prst="rect">
            <a:avLst/>
          </a:prstGeom>
          <a:noFill/>
        </p:spPr>
        <p:txBody>
          <a:bodyPr wrap="square">
            <a:spAutoFit/>
          </a:bodyPr>
          <a:lstStyle/>
          <a:p>
            <a:pPr algn="l">
              <a:spcAft>
                <a:spcPts val="0"/>
              </a:spcAft>
            </a:pPr>
            <a:r>
              <a:rPr sz="900" b="0">
                <a:solidFill>
                  <a:srgbClr val="78716C"/>
                </a:solidFill>
                <a:latin typeface="Calibri"/>
              </a:rPr>
              <a:t>Gonzaga Dental Clinic · 23 / 27</a:t>
            </a:r>
          </a:p>
        </p:txBody>
      </p:sp>
      <p:pic>
        <p:nvPicPr>
          <p:cNvPr id="6" name="Picture 5" descr="17-mobile-dashboard.png"/>
          <p:cNvPicPr>
            <a:picLocks noChangeAspect="1"/>
          </p:cNvPicPr>
          <p:nvPr/>
        </p:nvPicPr>
        <p:blipFill>
          <a:blip r:embed="rId2"/>
          <a:stretch>
            <a:fillRect/>
          </a:stretch>
        </p:blipFill>
        <p:spPr>
          <a:xfrm>
            <a:off x="3058946" y="1115568"/>
            <a:ext cx="822403" cy="4160520"/>
          </a:xfrm>
          <a:prstGeom prst="rect">
            <a:avLst/>
          </a:prstGeom>
        </p:spPr>
      </p:pic>
      <p:sp>
        <p:nvSpPr>
          <p:cNvPr id="7" name="TextBox 6"/>
          <p:cNvSpPr txBox="1"/>
          <p:nvPr/>
        </p:nvSpPr>
        <p:spPr>
          <a:xfrm>
            <a:off x="6629400" y="1143000"/>
            <a:ext cx="5029200" cy="640080"/>
          </a:xfrm>
          <a:prstGeom prst="rect">
            <a:avLst/>
          </a:prstGeom>
          <a:noFill/>
        </p:spPr>
        <p:txBody>
          <a:bodyPr wrap="square">
            <a:spAutoFit/>
          </a:bodyPr>
          <a:lstStyle/>
          <a:p>
            <a:pPr algn="l">
              <a:spcAft>
                <a:spcPts val="0"/>
              </a:spcAft>
            </a:pPr>
            <a:r>
              <a:rPr sz="1250" b="0">
                <a:solidFill>
                  <a:srgbClr val="78716C"/>
                </a:solidFill>
                <a:latin typeface="Calibri"/>
              </a:rPr>
              <a:t>The dashboard at phone width.</a:t>
            </a:r>
          </a:p>
        </p:txBody>
      </p:sp>
      <p:sp>
        <p:nvSpPr>
          <p:cNvPr id="8" name="TextBox 7"/>
          <p:cNvSpPr txBox="1"/>
          <p:nvPr/>
        </p:nvSpPr>
        <p:spPr>
          <a:xfrm>
            <a:off x="6629400" y="1783080"/>
            <a:ext cx="5029200" cy="4206240"/>
          </a:xfrm>
          <a:prstGeom prst="rect">
            <a:avLst/>
          </a:prstGeom>
          <a:noFill/>
        </p:spPr>
        <p:txBody>
          <a:bodyPr wrap="square">
            <a:spAutoFit/>
          </a:bodyPr>
          <a:lstStyle/>
          <a:p>
            <a:pPr>
              <a:spcAft>
                <a:spcPts val="900"/>
              </a:spcAft>
            </a:pPr>
            <a:r>
              <a:rPr sz="1150">
                <a:solidFill>
                  <a:srgbClr val="1C1917"/>
                </a:solidFill>
                <a:latin typeface="Calibri"/>
              </a:rPr>
              <a:t>•  The sidebar collapses to a horizontal scrolling nav so navigation survives a narrow screen without hiding it behind a menu.</a:t>
            </a:r>
          </a:p>
          <a:p>
            <a:pPr>
              <a:spcAft>
                <a:spcPts val="900"/>
              </a:spcAft>
            </a:pPr>
            <a:r>
              <a:rPr sz="1150">
                <a:solidFill>
                  <a:srgbClr val="1C1917"/>
                </a:solidFill>
                <a:latin typeface="Calibri"/>
              </a:rPr>
              <a:t>•  Interactive controls are at least 44px tall, the minimum comfortable touch target, because front-desk staff work on phones.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566928" y="310896"/>
            <a:ext cx="8595360" cy="457200"/>
          </a:xfrm>
          <a:prstGeom prst="rect">
            <a:avLst/>
          </a:prstGeom>
          <a:noFill/>
        </p:spPr>
        <p:txBody>
          <a:bodyPr wrap="square">
            <a:spAutoFit/>
          </a:bodyPr>
          <a:lstStyle/>
          <a:p>
            <a:pPr algn="l">
              <a:spcAft>
                <a:spcPts val="0"/>
              </a:spcAft>
            </a:pPr>
            <a:r>
              <a:rPr sz="2400" b="1">
                <a:solidFill>
                  <a:srgbClr val="1C1917"/>
                </a:solidFill>
                <a:latin typeface="Calibri"/>
              </a:rPr>
              <a:t>Mobile: patient directory</a:t>
            </a:r>
          </a:p>
        </p:txBody>
      </p:sp>
      <p:sp>
        <p:nvSpPr>
          <p:cNvPr id="3" name="TextBox 2"/>
          <p:cNvSpPr txBox="1"/>
          <p:nvPr/>
        </p:nvSpPr>
        <p:spPr>
          <a:xfrm>
            <a:off x="9521647" y="384048"/>
            <a:ext cx="2103120" cy="274320"/>
          </a:xfrm>
          <a:prstGeom prst="rect">
            <a:avLst/>
          </a:prstGeom>
          <a:noFill/>
        </p:spPr>
        <p:txBody>
          <a:bodyPr wrap="none">
            <a:spAutoFit/>
          </a:bodyPr>
          <a:lstStyle/>
          <a:p>
            <a:pPr algn="r"/>
            <a:r>
              <a:rPr sz="950" b="1">
                <a:solidFill>
                  <a:srgbClr val="78716C"/>
                </a:solidFill>
                <a:latin typeface="Calibri"/>
              </a:rPr>
              <a:t>ALL STAFF</a:t>
            </a:r>
          </a:p>
        </p:txBody>
      </p:sp>
      <p:sp>
        <p:nvSpPr>
          <p:cNvPr id="4" name="Rectangle 3"/>
          <p:cNvSpPr/>
          <p:nvPr/>
        </p:nvSpPr>
        <p:spPr>
          <a:xfrm>
            <a:off x="566928" y="841248"/>
            <a:ext cx="11057839" cy="254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382512"/>
            <a:ext cx="3657600" cy="274320"/>
          </a:xfrm>
          <a:prstGeom prst="rect">
            <a:avLst/>
          </a:prstGeom>
          <a:noFill/>
        </p:spPr>
        <p:txBody>
          <a:bodyPr wrap="square">
            <a:spAutoFit/>
          </a:bodyPr>
          <a:lstStyle/>
          <a:p>
            <a:pPr algn="l">
              <a:spcAft>
                <a:spcPts val="0"/>
              </a:spcAft>
            </a:pPr>
            <a:r>
              <a:rPr sz="900" b="0">
                <a:solidFill>
                  <a:srgbClr val="78716C"/>
                </a:solidFill>
                <a:latin typeface="Calibri"/>
              </a:rPr>
              <a:t>Gonzaga Dental Clinic · 24 / 27</a:t>
            </a:r>
          </a:p>
        </p:txBody>
      </p:sp>
      <p:pic>
        <p:nvPicPr>
          <p:cNvPr id="6" name="Picture 5" descr="18-mobile-patients.png"/>
          <p:cNvPicPr>
            <a:picLocks noChangeAspect="1"/>
          </p:cNvPicPr>
          <p:nvPr/>
        </p:nvPicPr>
        <p:blipFill>
          <a:blip r:embed="rId2"/>
          <a:stretch>
            <a:fillRect/>
          </a:stretch>
        </p:blipFill>
        <p:spPr>
          <a:xfrm>
            <a:off x="2700412" y="1115568"/>
            <a:ext cx="1539471" cy="4160520"/>
          </a:xfrm>
          <a:prstGeom prst="rect">
            <a:avLst/>
          </a:prstGeom>
        </p:spPr>
      </p:pic>
      <p:sp>
        <p:nvSpPr>
          <p:cNvPr id="7" name="TextBox 6"/>
          <p:cNvSpPr txBox="1"/>
          <p:nvPr/>
        </p:nvSpPr>
        <p:spPr>
          <a:xfrm>
            <a:off x="6629400" y="1143000"/>
            <a:ext cx="5029200" cy="640080"/>
          </a:xfrm>
          <a:prstGeom prst="rect">
            <a:avLst/>
          </a:prstGeom>
          <a:noFill/>
        </p:spPr>
        <p:txBody>
          <a:bodyPr wrap="square">
            <a:spAutoFit/>
          </a:bodyPr>
          <a:lstStyle/>
          <a:p>
            <a:pPr algn="l">
              <a:spcAft>
                <a:spcPts val="0"/>
              </a:spcAft>
            </a:pPr>
            <a:r>
              <a:rPr sz="1250" b="0">
                <a:solidFill>
                  <a:srgbClr val="78716C"/>
                </a:solidFill>
                <a:latin typeface="Calibri"/>
              </a:rPr>
              <a:t>The patient list at phone width.</a:t>
            </a:r>
          </a:p>
        </p:txBody>
      </p:sp>
      <p:sp>
        <p:nvSpPr>
          <p:cNvPr id="8" name="TextBox 7"/>
          <p:cNvSpPr txBox="1"/>
          <p:nvPr/>
        </p:nvSpPr>
        <p:spPr>
          <a:xfrm>
            <a:off x="6629400" y="1783080"/>
            <a:ext cx="5029200" cy="4206240"/>
          </a:xfrm>
          <a:prstGeom prst="rect">
            <a:avLst/>
          </a:prstGeom>
          <a:noFill/>
        </p:spPr>
        <p:txBody>
          <a:bodyPr wrap="square">
            <a:spAutoFit/>
          </a:bodyPr>
          <a:lstStyle/>
          <a:p>
            <a:pPr>
              <a:spcAft>
                <a:spcPts val="900"/>
              </a:spcAft>
            </a:pPr>
            <a:r>
              <a:rPr sz="1150">
                <a:solidFill>
                  <a:srgbClr val="1C1917"/>
                </a:solidFill>
                <a:latin typeface="Calibri"/>
              </a:rPr>
              <a:t>•  The table remains readable by scrolling horizontally within the table, so columns are never silently dropped.</a:t>
            </a:r>
          </a:p>
          <a:p>
            <a:pPr>
              <a:spcAft>
                <a:spcPts val="900"/>
              </a:spcAft>
            </a:pPr>
            <a:r>
              <a:rPr sz="1150">
                <a:solidFill>
                  <a:srgbClr val="1C1917"/>
                </a:solidFill>
                <a:latin typeface="Calibri"/>
              </a:rPr>
              <a:t>•  Patient names are comfortably tappable rather than bare inline text.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566928" y="310896"/>
            <a:ext cx="8595360" cy="457200"/>
          </a:xfrm>
          <a:prstGeom prst="rect">
            <a:avLst/>
          </a:prstGeom>
          <a:noFill/>
        </p:spPr>
        <p:txBody>
          <a:bodyPr wrap="square">
            <a:spAutoFit/>
          </a:bodyPr>
          <a:lstStyle/>
          <a:p>
            <a:pPr algn="l">
              <a:spcAft>
                <a:spcPts val="0"/>
              </a:spcAft>
            </a:pPr>
            <a:r>
              <a:rPr sz="2400" b="1">
                <a:solidFill>
                  <a:srgbClr val="1C1917"/>
                </a:solidFill>
                <a:latin typeface="Calibri"/>
              </a:rPr>
              <a:t>Both branches on a phone</a:t>
            </a:r>
          </a:p>
        </p:txBody>
      </p:sp>
      <p:sp>
        <p:nvSpPr>
          <p:cNvPr id="3" name="TextBox 2"/>
          <p:cNvSpPr txBox="1"/>
          <p:nvPr/>
        </p:nvSpPr>
        <p:spPr>
          <a:xfrm>
            <a:off x="9521647" y="384048"/>
            <a:ext cx="2103120" cy="274320"/>
          </a:xfrm>
          <a:prstGeom prst="rect">
            <a:avLst/>
          </a:prstGeom>
          <a:noFill/>
        </p:spPr>
        <p:txBody>
          <a:bodyPr wrap="none">
            <a:spAutoFit/>
          </a:bodyPr>
          <a:lstStyle/>
          <a:p>
            <a:pPr algn="r"/>
            <a:r>
              <a:rPr sz="950" b="1">
                <a:solidFill>
                  <a:srgbClr val="78716C"/>
                </a:solidFill>
                <a:latin typeface="Calibri"/>
              </a:rPr>
              <a:t>DENTIST + ADMIN</a:t>
            </a:r>
          </a:p>
        </p:txBody>
      </p:sp>
      <p:sp>
        <p:nvSpPr>
          <p:cNvPr id="4" name="Rectangle 3"/>
          <p:cNvSpPr/>
          <p:nvPr/>
        </p:nvSpPr>
        <p:spPr>
          <a:xfrm>
            <a:off x="566928" y="841248"/>
            <a:ext cx="11057839" cy="254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382512"/>
            <a:ext cx="3657600" cy="274320"/>
          </a:xfrm>
          <a:prstGeom prst="rect">
            <a:avLst/>
          </a:prstGeom>
          <a:noFill/>
        </p:spPr>
        <p:txBody>
          <a:bodyPr wrap="square">
            <a:spAutoFit/>
          </a:bodyPr>
          <a:lstStyle/>
          <a:p>
            <a:pPr algn="l">
              <a:spcAft>
                <a:spcPts val="0"/>
              </a:spcAft>
            </a:pPr>
            <a:r>
              <a:rPr sz="900" b="0">
                <a:solidFill>
                  <a:srgbClr val="78716C"/>
                </a:solidFill>
                <a:latin typeface="Calibri"/>
              </a:rPr>
              <a:t>Gonzaga Dental Clinic · 25 / 27</a:t>
            </a:r>
          </a:p>
        </p:txBody>
      </p:sp>
      <p:pic>
        <p:nvPicPr>
          <p:cNvPr id="6" name="Picture 5" descr="19-mobile-branches.png"/>
          <p:cNvPicPr>
            <a:picLocks noChangeAspect="1"/>
          </p:cNvPicPr>
          <p:nvPr/>
        </p:nvPicPr>
        <p:blipFill>
          <a:blip r:embed="rId2"/>
          <a:stretch>
            <a:fillRect/>
          </a:stretch>
        </p:blipFill>
        <p:spPr>
          <a:xfrm>
            <a:off x="3121800" y="1115568"/>
            <a:ext cx="696695" cy="4160520"/>
          </a:xfrm>
          <a:prstGeom prst="rect">
            <a:avLst/>
          </a:prstGeom>
        </p:spPr>
      </p:pic>
      <p:sp>
        <p:nvSpPr>
          <p:cNvPr id="7" name="TextBox 6"/>
          <p:cNvSpPr txBox="1"/>
          <p:nvPr/>
        </p:nvSpPr>
        <p:spPr>
          <a:xfrm>
            <a:off x="6629400" y="1143000"/>
            <a:ext cx="5029200" cy="640080"/>
          </a:xfrm>
          <a:prstGeom prst="rect">
            <a:avLst/>
          </a:prstGeom>
          <a:noFill/>
        </p:spPr>
        <p:txBody>
          <a:bodyPr wrap="square">
            <a:spAutoFit/>
          </a:bodyPr>
          <a:lstStyle/>
          <a:p>
            <a:pPr algn="l">
              <a:spcAft>
                <a:spcPts val="0"/>
              </a:spcAft>
            </a:pPr>
            <a:r>
              <a:rPr sz="1250" b="0">
                <a:solidFill>
                  <a:srgbClr val="78716C"/>
                </a:solidFill>
                <a:latin typeface="Calibri"/>
              </a:rPr>
              <a:t>The same cross-branch comparison, on the screen most staff actually carry.</a:t>
            </a:r>
          </a:p>
        </p:txBody>
      </p:sp>
      <p:sp>
        <p:nvSpPr>
          <p:cNvPr id="8" name="TextBox 7"/>
          <p:cNvSpPr txBox="1"/>
          <p:nvPr/>
        </p:nvSpPr>
        <p:spPr>
          <a:xfrm>
            <a:off x="6629400" y="1783080"/>
            <a:ext cx="5029200" cy="4206240"/>
          </a:xfrm>
          <a:prstGeom prst="rect">
            <a:avLst/>
          </a:prstGeom>
          <a:noFill/>
        </p:spPr>
        <p:txBody>
          <a:bodyPr wrap="square">
            <a:spAutoFit/>
          </a:bodyPr>
          <a:lstStyle/>
          <a:p>
            <a:pPr>
              <a:spcAft>
                <a:spcPts val="900"/>
              </a:spcAft>
            </a:pPr>
            <a:r>
              <a:rPr sz="1150">
                <a:solidFill>
                  <a:srgbClr val="1C1917"/>
                </a:solidFill>
                <a:latin typeface="Calibri"/>
              </a:rPr>
              <a:t>•  Each branch becomes its own stacked block, so the counts, schedule, and recent treatments are read by scrolling rather than side by side.</a:t>
            </a:r>
          </a:p>
          <a:p>
            <a:pPr>
              <a:spcAft>
                <a:spcPts val="900"/>
              </a:spcAft>
            </a:pPr>
            <a:r>
              <a:rPr sz="1150">
                <a:solidFill>
                  <a:srgbClr val="1C1917"/>
                </a:solidFill>
                <a:latin typeface="Calibri"/>
              </a:rPr>
              <a:t>•  The branch name and open/closed badge stay at the top of each block, which is the part that has to be legible at a glance before opening anything else.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566928" y="310896"/>
            <a:ext cx="8595360" cy="457200"/>
          </a:xfrm>
          <a:prstGeom prst="rect">
            <a:avLst/>
          </a:prstGeom>
          <a:noFill/>
        </p:spPr>
        <p:txBody>
          <a:bodyPr wrap="square">
            <a:spAutoFit/>
          </a:bodyPr>
          <a:lstStyle/>
          <a:p>
            <a:pPr algn="l">
              <a:spcAft>
                <a:spcPts val="0"/>
              </a:spcAft>
            </a:pPr>
            <a:r>
              <a:rPr sz="2400" b="1">
                <a:solidFill>
                  <a:srgbClr val="1C1917"/>
                </a:solidFill>
                <a:latin typeface="Calibri"/>
              </a:rPr>
              <a:t>How it was verified</a:t>
            </a:r>
          </a:p>
        </p:txBody>
      </p:sp>
      <p:sp>
        <p:nvSpPr>
          <p:cNvPr id="3" name="Rectangle 2"/>
          <p:cNvSpPr/>
          <p:nvPr/>
        </p:nvSpPr>
        <p:spPr>
          <a:xfrm>
            <a:off x="566928" y="841248"/>
            <a:ext cx="11057839" cy="254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382512"/>
            <a:ext cx="3657600" cy="274320"/>
          </a:xfrm>
          <a:prstGeom prst="rect">
            <a:avLst/>
          </a:prstGeom>
          <a:noFill/>
        </p:spPr>
        <p:txBody>
          <a:bodyPr wrap="square">
            <a:spAutoFit/>
          </a:bodyPr>
          <a:lstStyle/>
          <a:p>
            <a:pPr algn="l">
              <a:spcAft>
                <a:spcPts val="0"/>
              </a:spcAft>
            </a:pPr>
            <a:r>
              <a:rPr sz="900" b="0">
                <a:solidFill>
                  <a:srgbClr val="78716C"/>
                </a:solidFill>
                <a:latin typeface="Calibri"/>
              </a:rPr>
              <a:t>Gonzaga Dental Clinic · 26 / 27</a:t>
            </a:r>
          </a:p>
        </p:txBody>
      </p:sp>
      <p:sp>
        <p:nvSpPr>
          <p:cNvPr id="5" name="TextBox 4"/>
          <p:cNvSpPr txBox="1"/>
          <p:nvPr/>
        </p:nvSpPr>
        <p:spPr>
          <a:xfrm>
            <a:off x="566928" y="1234440"/>
            <a:ext cx="5669280" cy="4572000"/>
          </a:xfrm>
          <a:prstGeom prst="rect">
            <a:avLst/>
          </a:prstGeom>
          <a:noFill/>
        </p:spPr>
        <p:txBody>
          <a:bodyPr wrap="square">
            <a:spAutoFit/>
          </a:bodyPr>
          <a:lstStyle/>
          <a:p>
            <a:pPr>
              <a:spcAft>
                <a:spcPts val="900"/>
              </a:spcAft>
            </a:pPr>
            <a:r>
              <a:rPr sz="1350">
                <a:solidFill>
                  <a:srgbClr val="1C1917"/>
                </a:solidFill>
                <a:latin typeface="Calibri"/>
              </a:rPr>
              <a:t>•  Database smoke test against a throwaway PostgreSQL instance: 24 sections, including 7 attempts that must be denied by row-level security.</a:t>
            </a:r>
          </a:p>
          <a:p>
            <a:pPr>
              <a:spcAft>
                <a:spcPts val="900"/>
              </a:spcAft>
            </a:pPr>
            <a:r>
              <a:rPr sz="1350">
                <a:solidFill>
                  <a:srgbClr val="1C1917"/>
                </a:solidFill>
                <a:latin typeface="Calibri"/>
              </a:rPr>
              <a:t>•  The schema is applied twice per run to prove it is idempotent, and the seed runs twice.</a:t>
            </a:r>
          </a:p>
          <a:p>
            <a:pPr>
              <a:spcAft>
                <a:spcPts val="900"/>
              </a:spcAft>
            </a:pPr>
            <a:r>
              <a:rPr sz="1350">
                <a:solidFill>
                  <a:srgbClr val="1C1917"/>
                </a:solidFill>
                <a:latin typeface="Calibri"/>
              </a:rPr>
              <a:t>•  TypeScript, ESLint and a production build with preview disabled, confirming every authenticated route stays dynamic.</a:t>
            </a:r>
          </a:p>
          <a:p>
            <a:pPr>
              <a:spcAft>
                <a:spcPts val="900"/>
              </a:spcAft>
            </a:pPr>
            <a:r>
              <a:rPr sz="1350">
                <a:solidFill>
                  <a:srgbClr val="1C1917"/>
                </a:solidFill>
                <a:latin typeface="Calibri"/>
              </a:rPr>
              <a:t>•  19 screenshots captured at desktop and mobile, with console errors and page errors treated as failures.</a:t>
            </a:r>
          </a:p>
          <a:p>
            <a:pPr>
              <a:spcAft>
                <a:spcPts val="900"/>
              </a:spcAft>
            </a:pPr>
            <a:r>
              <a:rPr sz="1350">
                <a:solidFill>
                  <a:srgbClr val="1C1917"/>
                </a:solidFill>
                <a:latin typeface="Calibri"/>
              </a:rPr>
              <a:t>•  A layout audit at five viewport widths checks for horizontal overflow and undersized touch targets.</a:t>
            </a:r>
          </a:p>
        </p:txBody>
      </p:sp>
      <p:sp>
        <p:nvSpPr>
          <p:cNvPr id="6" name="TextBox 5"/>
          <p:cNvSpPr txBox="1"/>
          <p:nvPr/>
        </p:nvSpPr>
        <p:spPr>
          <a:xfrm>
            <a:off x="6400800" y="1234440"/>
            <a:ext cx="5212080" cy="4572000"/>
          </a:xfrm>
          <a:prstGeom prst="rect">
            <a:avLst/>
          </a:prstGeom>
          <a:noFill/>
        </p:spPr>
        <p:txBody>
          <a:bodyPr wrap="square">
            <a:spAutoFit/>
          </a:bodyPr>
          <a:lstStyle/>
          <a:p>
            <a:pPr>
              <a:spcAft>
                <a:spcPts val="900"/>
              </a:spcAft>
            </a:pPr>
            <a:r>
              <a:rPr sz="1350">
                <a:solidFill>
                  <a:srgbClr val="1C1917"/>
                </a:solidFill>
                <a:latin typeface="Calibri"/>
              </a:rPr>
              <a:t>•  Not yet verified, and it matters: production authentication, the real REST layer, writes, and end-to-end row-level security all need live Supabase credentials.</a:t>
            </a:r>
          </a:p>
          <a:p>
            <a:pPr>
              <a:spcAft>
                <a:spcPts val="900"/>
              </a:spcAft>
            </a:pPr>
            <a:r>
              <a:rPr sz="1350">
                <a:solidFill>
                  <a:srgbClr val="1C1917"/>
                </a:solidFill>
                <a:latin typeface="Calibri"/>
              </a:rPr>
              <a:t>•  No automated browser tests are committed, so a regression in the interactive chart would only be caught by review.</a:t>
            </a:r>
          </a:p>
          <a:p>
            <a:pPr>
              <a:spcAft>
                <a:spcPts val="900"/>
              </a:spcAft>
            </a:pPr>
            <a:r>
              <a:rPr sz="1350">
                <a:solidFill>
                  <a:srgbClr val="1C1917"/>
                </a:solidFill>
                <a:latin typeface="Calibri"/>
              </a:rPr>
              <a:t>•  Branch opening hours are read per branch for display, but booking still uses one clinic-wide hours map.</a:t>
            </a:r>
          </a:p>
          <a:p>
            <a:pPr>
              <a:spcAft>
                <a:spcPts val="900"/>
              </a:spcAft>
            </a:pPr>
            <a:r>
              <a:rPr sz="1350">
                <a:solidFill>
                  <a:srgbClr val="1C1917"/>
                </a:solidFill>
                <a:latin typeface="Calibri"/>
              </a:rPr>
              <a:t>•  The first cross-branch visit of the day still needs a dentist or admin to create.</a:t>
            </a:r>
          </a:p>
          <a:p>
            <a:pPr>
              <a:spcAft>
                <a:spcPts val="900"/>
              </a:spcAft>
            </a:pPr>
            <a:r>
              <a:rPr sz="1350">
                <a:solidFill>
                  <a:srgbClr val="1C1917"/>
                </a:solidFill>
                <a:latin typeface="Calibri"/>
              </a:rPr>
              <a:t>•  No automated backups are running yet; the backups screen shows the manual procedure.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566928" y="310896"/>
            <a:ext cx="8595360" cy="457200"/>
          </a:xfrm>
          <a:prstGeom prst="rect">
            <a:avLst/>
          </a:prstGeom>
          <a:noFill/>
        </p:spPr>
        <p:txBody>
          <a:bodyPr wrap="square">
            <a:spAutoFit/>
          </a:bodyPr>
          <a:lstStyle/>
          <a:p>
            <a:pPr algn="l">
              <a:spcAft>
                <a:spcPts val="0"/>
              </a:spcAft>
            </a:pPr>
            <a:r>
              <a:rPr sz="2400" b="1">
                <a:solidFill>
                  <a:srgbClr val="1C1917"/>
                </a:solidFill>
                <a:latin typeface="Calibri"/>
              </a:rPr>
              <a:t>Decisions needed from the clinic</a:t>
            </a:r>
          </a:p>
        </p:txBody>
      </p:sp>
      <p:sp>
        <p:nvSpPr>
          <p:cNvPr id="3" name="Rectangle 2"/>
          <p:cNvSpPr/>
          <p:nvPr/>
        </p:nvSpPr>
        <p:spPr>
          <a:xfrm>
            <a:off x="566928" y="841248"/>
            <a:ext cx="11057839" cy="254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382512"/>
            <a:ext cx="3657600" cy="274320"/>
          </a:xfrm>
          <a:prstGeom prst="rect">
            <a:avLst/>
          </a:prstGeom>
          <a:noFill/>
        </p:spPr>
        <p:txBody>
          <a:bodyPr wrap="square">
            <a:spAutoFit/>
          </a:bodyPr>
          <a:lstStyle/>
          <a:p>
            <a:pPr algn="l">
              <a:spcAft>
                <a:spcPts val="0"/>
              </a:spcAft>
            </a:pPr>
            <a:r>
              <a:rPr sz="900" b="0">
                <a:solidFill>
                  <a:srgbClr val="78716C"/>
                </a:solidFill>
                <a:latin typeface="Calibri"/>
              </a:rPr>
              <a:t>Gonzaga Dental Clinic · 27 / 27</a:t>
            </a:r>
          </a:p>
        </p:txBody>
      </p:sp>
      <p:sp>
        <p:nvSpPr>
          <p:cNvPr id="5" name="TextBox 4"/>
          <p:cNvSpPr txBox="1"/>
          <p:nvPr/>
        </p:nvSpPr>
        <p:spPr>
          <a:xfrm>
            <a:off x="566928" y="1234440"/>
            <a:ext cx="11064240" cy="4754880"/>
          </a:xfrm>
          <a:prstGeom prst="rect">
            <a:avLst/>
          </a:prstGeom>
          <a:noFill/>
        </p:spPr>
        <p:txBody>
          <a:bodyPr wrap="square">
            <a:spAutoFit/>
          </a:bodyPr>
          <a:lstStyle/>
          <a:p>
            <a:pPr>
              <a:spcAft>
                <a:spcPts val="900"/>
              </a:spcAft>
            </a:pPr>
            <a:r>
              <a:rPr sz="1400">
                <a:solidFill>
                  <a:srgbClr val="1C1917"/>
                </a:solidFill>
                <a:latin typeface="Calibri"/>
              </a:rPr>
              <a:t>•  Real opening hours per branch. Today the branch pages display each branch's own hours, but appointment booking uses a single clinic-wide map, so a branch that is closed can still be booked.</a:t>
            </a:r>
          </a:p>
          <a:p>
            <a:pPr>
              <a:spcAft>
                <a:spcPts val="900"/>
              </a:spcAft>
            </a:pPr>
            <a:r>
              <a:rPr sz="1400">
                <a:solidFill>
                  <a:srgbClr val="1C1917"/>
                </a:solidFill>
                <a:latin typeface="Calibri"/>
              </a:rPr>
              <a:t>•  Consent wording and version, and whether consent is required before a procedure or only recorded afterwards.</a:t>
            </a:r>
          </a:p>
          <a:p>
            <a:pPr>
              <a:spcAft>
                <a:spcPts val="900"/>
              </a:spcAft>
            </a:pPr>
            <a:r>
              <a:rPr sz="1400">
                <a:solidFill>
                  <a:srgbClr val="1C1917"/>
                </a:solidFill>
                <a:latin typeface="Calibri"/>
              </a:rPr>
              <a:t>•  What intake must capture, and whether registration collects consent at the same time.</a:t>
            </a:r>
          </a:p>
          <a:p>
            <a:pPr>
              <a:spcAft>
                <a:spcPts val="900"/>
              </a:spcAft>
            </a:pPr>
            <a:r>
              <a:rPr sz="1400">
                <a:solidFill>
                  <a:srgbClr val="1C1917"/>
                </a:solidFill>
                <a:latin typeface="Calibri"/>
              </a:rPr>
              <a:t>•  The procedure code list, and whether codes must map to a national fee schedule.</a:t>
            </a:r>
          </a:p>
          <a:p>
            <a:pPr>
              <a:spcAft>
                <a:spcPts val="900"/>
              </a:spcAft>
            </a:pPr>
            <a:r>
              <a:rPr sz="1400">
                <a:solidFill>
                  <a:srgbClr val="1C1917"/>
                </a:solidFill>
                <a:latin typeface="Calibri"/>
              </a:rPr>
              <a:t>•  Record retention periods, backup schedule, and who may hold each role — particularly whether a receptionist ever needs the dentist and admin views.</a:t>
            </a:r>
          </a:p>
          <a:p>
            <a:pPr>
              <a:spcAft>
                <a:spcPts val="900"/>
              </a:spcAft>
            </a:pPr>
            <a:r>
              <a:rPr sz="1400">
                <a:solidFill>
                  <a:srgbClr val="1C1917"/>
                </a:solidFill>
                <a:latin typeface="Calibri"/>
              </a:rPr>
              <a:t>•  Whether a patient may be registered at one branch and treated routinely at the other, which changes how appointments are booked.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